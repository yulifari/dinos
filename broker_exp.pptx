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604" r:id="rId2"/>
    <p:sldId id="605" r:id="rId3"/>
    <p:sldId id="606" r:id="rId4"/>
    <p:sldId id="608" r:id="rId5"/>
    <p:sldId id="607"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224" autoAdjust="0"/>
  </p:normalViewPr>
  <p:slideViewPr>
    <p:cSldViewPr snapToGrid="0">
      <p:cViewPr>
        <p:scale>
          <a:sx n="50" d="100"/>
          <a:sy n="50" d="100"/>
        </p:scale>
        <p:origin x="1212" y="1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B7593-8002-4A91-B966-8F5DAE358404}" type="datetimeFigureOut">
              <a:rPr lang="fr-FR" smtClean="0"/>
              <a:t>11/01/2026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264117-D057-40D8-AFAF-906B10D87E3B}" type="slidenum">
              <a:rPr lang="fr-FR" smtClean="0"/>
              <a:t>‹N°›</a:t>
            </a:fld>
            <a:endParaRPr lang="fr-FR"/>
          </a:p>
        </p:txBody>
      </p:sp>
    </p:spTree>
    <p:extLst>
      <p:ext uri="{BB962C8B-B14F-4D97-AF65-F5344CB8AC3E}">
        <p14:creationId xmlns:p14="http://schemas.microsoft.com/office/powerpoint/2010/main" val="781424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avons un traitement {x} qui manipule un volume de données en forte croissance. </a:t>
            </a:r>
          </a:p>
          <a:p>
            <a:r>
              <a:rPr lang="fr-FR" dirty="0"/>
              <a:t>Chaque jour, il produit des rapports réglementaires et appelle une API externe. La charge ne cesse d’augmenter, et nous devons trouver une solution durable.</a:t>
            </a:r>
          </a:p>
          <a:p>
            <a:endParaRPr lang="fr-FR" dirty="0"/>
          </a:p>
          <a:p>
            <a:r>
              <a:rPr lang="fr-FR" dirty="0"/>
              <a:t>Aujourd’hui, {x} calcule les données, les stocke, et appelle directement l’API. Tout est couplé : calcul, persistance, diffusion. Cette approche met une pression directe sur l’infrastructure et sur l’API.</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traitement est à la fois producteur, orchestrateur et diffuseur. C’est trop de responsabilités pour un seul composant.</a:t>
            </a:r>
          </a:p>
        </p:txBody>
      </p:sp>
      <p:sp>
        <p:nvSpPr>
          <p:cNvPr id="4" name="Espace réservé du numéro de diapositive 3"/>
          <p:cNvSpPr>
            <a:spLocks noGrp="1"/>
          </p:cNvSpPr>
          <p:nvPr>
            <p:ph type="sldNum" sz="quarter" idx="5"/>
          </p:nvPr>
        </p:nvSpPr>
        <p:spPr/>
        <p:txBody>
          <a:bodyPr/>
          <a:lstStyle/>
          <a:p>
            <a:fld id="{FB264117-D057-40D8-AFAF-906B10D87E3B}" type="slidenum">
              <a:rPr lang="fr-FR" smtClean="0"/>
              <a:t>1</a:t>
            </a:fld>
            <a:endParaRPr lang="fr-FR"/>
          </a:p>
        </p:txBody>
      </p:sp>
    </p:spTree>
    <p:extLst>
      <p:ext uri="{BB962C8B-B14F-4D97-AF65-F5344CB8AC3E}">
        <p14:creationId xmlns:p14="http://schemas.microsoft.com/office/powerpoint/2010/main" val="3916971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absorber la charge, nous dupliquons sans cesse l’infrastructure. C’est coûteux et fragile. </a:t>
            </a:r>
          </a:p>
          <a:p>
            <a:r>
              <a:rPr lang="fr-FR" dirty="0"/>
              <a:t>On </a:t>
            </a:r>
            <a:r>
              <a:rPr lang="fr-FR" dirty="0" err="1"/>
              <a:t>scale</a:t>
            </a:r>
            <a:r>
              <a:rPr lang="fr-FR" dirty="0"/>
              <a:t> pour compenser un problème de conception, pas un problème de volume.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système doit s’adapter à la capacité de l’API, pas l’inverse.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Les limites sont claires : coûts d’infrastructure élevés, dépendance au débit de l’API, difficulté à rejouer ou reprendre des traitements, et absence de contrôle fin sur le débit.</a:t>
            </a:r>
          </a:p>
          <a:p>
            <a:endParaRPr lang="fr-FR" dirty="0"/>
          </a:p>
          <a:p>
            <a:r>
              <a:rPr lang="fr-FR" dirty="0"/>
              <a:t>Notre principe cible est simple : découpler le calcul de la diffusion. {x} fait son travail de traitement et de stockage, et un autre composant se charge de diffuser les données vers l’API au rythme qu’elle peut absorber.</a:t>
            </a:r>
          </a:p>
        </p:txBody>
      </p:sp>
      <p:sp>
        <p:nvSpPr>
          <p:cNvPr id="4" name="Espace réservé du numéro de diapositive 3"/>
          <p:cNvSpPr>
            <a:spLocks noGrp="1"/>
          </p:cNvSpPr>
          <p:nvPr>
            <p:ph type="sldNum" sz="quarter" idx="5"/>
          </p:nvPr>
        </p:nvSpPr>
        <p:spPr/>
        <p:txBody>
          <a:bodyPr/>
          <a:lstStyle/>
          <a:p>
            <a:fld id="{FB264117-D057-40D8-AFAF-906B10D87E3B}" type="slidenum">
              <a:rPr lang="fr-FR" smtClean="0"/>
              <a:t>2</a:t>
            </a:fld>
            <a:endParaRPr lang="fr-FR"/>
          </a:p>
        </p:txBody>
      </p:sp>
    </p:spTree>
    <p:extLst>
      <p:ext uri="{BB962C8B-B14F-4D97-AF65-F5344CB8AC3E}">
        <p14:creationId xmlns:p14="http://schemas.microsoft.com/office/powerpoint/2010/main" val="301471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Chaque composant fait une seule chose, mais la fait bien.</a:t>
            </a:r>
          </a:p>
          <a:p>
            <a:r>
              <a:rPr lang="fr-FR" dirty="0"/>
              <a:t>Le broker devient un amortisseur, pas un simple tuyau.</a:t>
            </a:r>
          </a:p>
          <a:p>
            <a:pPr>
              <a:buFont typeface="Arial" panose="020B0604020202020204" pitchFamily="34" charset="0"/>
              <a:buNone/>
            </a:pPr>
            <a:endParaRPr lang="fr-FR" dirty="0"/>
          </a:p>
          <a:p>
            <a:pPr>
              <a:buFont typeface="Arial" panose="020B0604020202020204" pitchFamily="34" charset="0"/>
              <a:buNone/>
            </a:pPr>
            <a:r>
              <a:rPr lang="fr-FR" dirty="0"/>
              <a:t>Les résultats sont stockés dans une base, source de vérité. Ensuite, un broker de messages reçoit les données et les met en attente si nécessaire. Un consumer unique lit les messages, les formate et appelle l’API, tout en mettant à jour le statut de traitement.</a:t>
            </a:r>
          </a:p>
          <a:p>
            <a:pPr>
              <a:buFont typeface="Arial" panose="020B0604020202020204" pitchFamily="34" charset="0"/>
              <a:buNone/>
            </a:pPr>
            <a:endParaRPr lang="fr-FR" dirty="0"/>
          </a:p>
          <a:p>
            <a:pPr>
              <a:buFont typeface="Arial" panose="020B0604020202020204" pitchFamily="34" charset="0"/>
              <a:buNone/>
            </a:pPr>
            <a:r>
              <a:rPr lang="fr-FR" dirty="0"/>
              <a:t>Le broker absorbe les pics de charge et permet de réguler le débit en fonction de la capacité réelle de l’API. Ainsi, nous évitons de saturer l’API et de devoir </a:t>
            </a:r>
            <a:r>
              <a:rPr lang="fr-FR" dirty="0" err="1"/>
              <a:t>scaler</a:t>
            </a:r>
            <a:r>
              <a:rPr lang="fr-FR" dirty="0"/>
              <a:t> inutilement l’infrastructure.</a:t>
            </a:r>
          </a:p>
          <a:p>
            <a:pPr>
              <a:buFont typeface="Arial" panose="020B0604020202020204" pitchFamily="34" charset="0"/>
              <a:buChar char="•"/>
            </a:pPr>
            <a:endParaRPr lang="fr-FR" dirty="0"/>
          </a:p>
          <a:p>
            <a:pPr>
              <a:buFont typeface="Arial" panose="020B0604020202020204" pitchFamily="34" charset="0"/>
              <a:buChar char="•"/>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FB264117-D057-40D8-AFAF-906B10D87E3B}" type="slidenum">
              <a:rPr lang="fr-FR" smtClean="0"/>
              <a:t>3</a:t>
            </a:fld>
            <a:endParaRPr lang="fr-FR"/>
          </a:p>
        </p:txBody>
      </p:sp>
    </p:spTree>
    <p:extLst>
      <p:ext uri="{BB962C8B-B14F-4D97-AF65-F5344CB8AC3E}">
        <p14:creationId xmlns:p14="http://schemas.microsoft.com/office/powerpoint/2010/main" val="2875636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Sur la partie haute du schéma, vous voyez l’architecture actuelle : le traitement X produit les données et appelle directement les API via un load balancer ou une </a:t>
            </a:r>
            <a:r>
              <a:rPr lang="fr-FR" dirty="0" err="1"/>
              <a:t>gateway</a:t>
            </a:r>
            <a:r>
              <a:rPr lang="fr-FR" dirty="0"/>
              <a:t>. Chaque montée de charge pousse à dupliquer les instances de l’API, ce qui est coûteux et fragile.</a:t>
            </a:r>
          </a:p>
          <a:p>
            <a:endParaRPr lang="fr-FR" dirty="0"/>
          </a:p>
          <a:p>
            <a:r>
              <a:rPr lang="fr-FR" dirty="0"/>
              <a:t>En bas, le schéma cible montre notre approche découplée : le traitement X écrit les résultats dans une base de données, qui devient la source de vérité. Un </a:t>
            </a:r>
            <a:r>
              <a:rPr lang="fr-FR" dirty="0" err="1"/>
              <a:t>producer</a:t>
            </a:r>
            <a:r>
              <a:rPr lang="fr-FR" dirty="0"/>
              <a:t> publie les changements vers un broker de messages.</a:t>
            </a:r>
          </a:p>
          <a:p>
            <a:r>
              <a:rPr lang="fr-FR" dirty="0"/>
              <a:t>Un consumer unique lit ces messages, les transforme selon les besoins de l’API, et les envoie au rythme que l’API peut absorber. Après traitement, le consumer met à jour la base pour indiquer le statut de chaque message.</a:t>
            </a:r>
          </a:p>
          <a:p>
            <a:r>
              <a:rPr lang="fr-FR" dirty="0"/>
              <a:t>Ainsi, le flux est </a:t>
            </a:r>
            <a:r>
              <a:rPr lang="fr-FR" b="0" dirty="0"/>
              <a:t>découplé</a:t>
            </a:r>
            <a:r>
              <a:rPr lang="fr-FR" dirty="0"/>
              <a:t>, les pics de charge sont absorbés par le broker, et nous contrôlons le débit vers l’API sans multiplier les instances. Cette approche réduit les coûts, augmente la résilience et rend le système plus maîtrisable.</a:t>
            </a:r>
          </a:p>
          <a:p>
            <a:endParaRPr lang="fr-FR" dirty="0"/>
          </a:p>
        </p:txBody>
      </p:sp>
      <p:sp>
        <p:nvSpPr>
          <p:cNvPr id="4" name="Espace réservé du numéro de diapositive 3"/>
          <p:cNvSpPr>
            <a:spLocks noGrp="1"/>
          </p:cNvSpPr>
          <p:nvPr>
            <p:ph type="sldNum" sz="quarter" idx="5"/>
          </p:nvPr>
        </p:nvSpPr>
        <p:spPr/>
        <p:txBody>
          <a:bodyPr/>
          <a:lstStyle/>
          <a:p>
            <a:fld id="{FB264117-D057-40D8-AFAF-906B10D87E3B}" type="slidenum">
              <a:rPr lang="fr-FR" smtClean="0"/>
              <a:t>4</a:t>
            </a:fld>
            <a:endParaRPr lang="fr-FR"/>
          </a:p>
        </p:txBody>
      </p:sp>
    </p:spTree>
    <p:extLst>
      <p:ext uri="{BB962C8B-B14F-4D97-AF65-F5344CB8AC3E}">
        <p14:creationId xmlns:p14="http://schemas.microsoft.com/office/powerpoint/2010/main" val="3036200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architecture apporte plusieurs bénéfices : réduction des coûts, découplage des responsabilités, scalabilité maîtrisée et meilleure observabilité du traitement. Chaque composant fait une seule chose, mais la fait bien.</a:t>
            </a:r>
          </a:p>
          <a:p>
            <a:r>
              <a:rPr lang="fr-FR" dirty="0"/>
              <a:t>On passe d’un système sous tension permanente à un système gouverné.</a:t>
            </a:r>
          </a:p>
          <a:p>
            <a:r>
              <a:rPr lang="fr-FR" dirty="0"/>
              <a:t>Scaler l’infrastructure pour compenser un couplage fort avec une API externe est un contournement coûteux. Le découplage événementiel est une réponse d’architecture.</a:t>
            </a:r>
          </a:p>
          <a:p>
            <a:endParaRPr lang="fr-FR" dirty="0"/>
          </a:p>
          <a:p>
            <a:r>
              <a:rPr lang="fr-FR" dirty="0"/>
              <a:t>Je recommande de valider cette architecture cible et de lancer un POC sur le consumer et la régulation du débit. Cela permettra de confirmer la faisabilité et de mesurer l’impact concret sur la charge et les coûts.</a:t>
            </a:r>
          </a:p>
        </p:txBody>
      </p:sp>
      <p:sp>
        <p:nvSpPr>
          <p:cNvPr id="4" name="Espace réservé du numéro de diapositive 3"/>
          <p:cNvSpPr>
            <a:spLocks noGrp="1"/>
          </p:cNvSpPr>
          <p:nvPr>
            <p:ph type="sldNum" sz="quarter" idx="5"/>
          </p:nvPr>
        </p:nvSpPr>
        <p:spPr/>
        <p:txBody>
          <a:bodyPr/>
          <a:lstStyle/>
          <a:p>
            <a:fld id="{FB264117-D057-40D8-AFAF-906B10D87E3B}" type="slidenum">
              <a:rPr lang="fr-FR" smtClean="0"/>
              <a:t>5</a:t>
            </a:fld>
            <a:endParaRPr lang="fr-FR"/>
          </a:p>
        </p:txBody>
      </p:sp>
    </p:spTree>
    <p:extLst>
      <p:ext uri="{BB962C8B-B14F-4D97-AF65-F5344CB8AC3E}">
        <p14:creationId xmlns:p14="http://schemas.microsoft.com/office/powerpoint/2010/main" val="385998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17D20F-D8A5-85D1-0253-52414A4302F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AE026DC-76D1-E72E-ADFD-529B767C1D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61C8DD3-ACB4-175B-8E01-3A24CC6D0F04}"/>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5" name="Espace réservé du pied de page 4">
            <a:extLst>
              <a:ext uri="{FF2B5EF4-FFF2-40B4-BE49-F238E27FC236}">
                <a16:creationId xmlns:a16="http://schemas.microsoft.com/office/drawing/2014/main" id="{C421F2CB-B029-F895-83AD-59A49DE31E9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2A39F91-82C7-943A-2E9D-B5CAE06DB04B}"/>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3075667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263012-4C7A-F24C-1894-225F3CD966D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5F0CB7C-2D64-058F-5AE8-5E282E15C7D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616CF6-FE4B-4C08-F16D-8E3A3C154B67}"/>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5" name="Espace réservé du pied de page 4">
            <a:extLst>
              <a:ext uri="{FF2B5EF4-FFF2-40B4-BE49-F238E27FC236}">
                <a16:creationId xmlns:a16="http://schemas.microsoft.com/office/drawing/2014/main" id="{59EDC6F1-E56F-E742-021E-B25BB3A3FDB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17BA980-CFFB-2D63-FBDC-19BC1A7BF3EB}"/>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317027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CCB3F1-EEB8-3889-231E-DF5F766D591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EC7E8A7-95BF-4312-EF78-43CF0BBE2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8225C15-E9CB-4918-054C-93C0D7B90FA3}"/>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5" name="Espace réservé du pied de page 4">
            <a:extLst>
              <a:ext uri="{FF2B5EF4-FFF2-40B4-BE49-F238E27FC236}">
                <a16:creationId xmlns:a16="http://schemas.microsoft.com/office/drawing/2014/main" id="{4C5CE279-524F-BA68-99DE-7A2B33DB927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C373E0-14CD-833E-BA1D-7D8E9B28222E}"/>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306522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63C896-8AB1-4F34-F57B-469408D10D5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CF1FAD-BEF4-B6EB-57BF-83BD5CF9FCA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B773796-B483-0499-2316-BB45BB2E5BB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B08FA3D-A795-540F-93F6-2BC32042B03A}"/>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6" name="Espace réservé du pied de page 5">
            <a:extLst>
              <a:ext uri="{FF2B5EF4-FFF2-40B4-BE49-F238E27FC236}">
                <a16:creationId xmlns:a16="http://schemas.microsoft.com/office/drawing/2014/main" id="{BB19DCC9-01D5-3970-6B6F-30169CED665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BA0048A-F79C-8858-4A0B-A204373E0779}"/>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2958289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5E22A-D33E-13BF-F2E4-ACC1A419A30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C357C33-D837-8E67-1BAC-FAE1E39295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CDA27FD-BFF0-DE32-AEA8-EF49CF51302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E160073-0F13-A9E9-5B73-5E5E55F553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524C0BA-2FCB-D833-C5DD-252D9964B9D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C9F74B2-12CC-A9F9-B869-2806468437AC}"/>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8" name="Espace réservé du pied de page 7">
            <a:extLst>
              <a:ext uri="{FF2B5EF4-FFF2-40B4-BE49-F238E27FC236}">
                <a16:creationId xmlns:a16="http://schemas.microsoft.com/office/drawing/2014/main" id="{F606DBA3-71D3-9D67-D24E-26A1993DA6E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DC63E23-AD64-E500-ACB2-3D0AD9F0FB32}"/>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2052128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3CFC01-6B8A-77F6-8D6F-2A127B64B3A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B0E220E-7EDB-F7B0-5465-B20379DCD257}"/>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4" name="Espace réservé du pied de page 3">
            <a:extLst>
              <a:ext uri="{FF2B5EF4-FFF2-40B4-BE49-F238E27FC236}">
                <a16:creationId xmlns:a16="http://schemas.microsoft.com/office/drawing/2014/main" id="{F4981FC2-6AF5-A0F1-DC35-7788BEF7C3E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50F3365-538D-78B2-75D2-6E1063EEE4A6}"/>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130832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C76089B-65E5-594C-790D-23EE9C38141C}"/>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3" name="Espace réservé du pied de page 2">
            <a:extLst>
              <a:ext uri="{FF2B5EF4-FFF2-40B4-BE49-F238E27FC236}">
                <a16:creationId xmlns:a16="http://schemas.microsoft.com/office/drawing/2014/main" id="{05E36C37-4892-7F5B-3B4B-C2452A6FEFF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7D4AAC-64B0-56DC-F184-D16DC1ADC74C}"/>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1726844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1AB645-D575-3BF1-E1B5-308AB198654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2F89D53-8F28-55C8-FEC3-00E866E03A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CAD8BBF-5245-4042-E8DA-F6931044DE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3D61383-4EA8-3833-BFA1-E7EE26C16209}"/>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6" name="Espace réservé du pied de page 5">
            <a:extLst>
              <a:ext uri="{FF2B5EF4-FFF2-40B4-BE49-F238E27FC236}">
                <a16:creationId xmlns:a16="http://schemas.microsoft.com/office/drawing/2014/main" id="{BBE1ABB4-E5EA-EFFD-6006-D3E86DDD76F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C3901BE-5F36-8FB3-799F-4FCFCCBFB750}"/>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609691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289E56-0347-28BF-188F-E846DEF22DB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E281B90-3B07-C926-8CF2-27F7B2C916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5CB6D6A-2CC4-002C-BDA5-A4B1E782F5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EFFCFA1-DCB1-AF37-FDB0-9E510D2E5530}"/>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6" name="Espace réservé du pied de page 5">
            <a:extLst>
              <a:ext uri="{FF2B5EF4-FFF2-40B4-BE49-F238E27FC236}">
                <a16:creationId xmlns:a16="http://schemas.microsoft.com/office/drawing/2014/main" id="{BF068707-B6F0-90FC-99D0-977D8752287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086A67C-9B39-8CBD-36A1-11E6363ABE81}"/>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3595073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582829-0EB6-FB9E-B9D4-75D9752BCF1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CB9B74C-F320-E0DC-0396-46880C617F6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2A8C7C1-E6CB-5327-A4A7-DA68273E484A}"/>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5" name="Espace réservé du pied de page 4">
            <a:extLst>
              <a:ext uri="{FF2B5EF4-FFF2-40B4-BE49-F238E27FC236}">
                <a16:creationId xmlns:a16="http://schemas.microsoft.com/office/drawing/2014/main" id="{28E6F598-92A2-DDBB-2C9D-62102E0E7CE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A576DDF-A66F-ED0B-4EF6-CD1A3CCA4275}"/>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3689378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5F165CD-C48C-E171-5006-CD931002C94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AC14384-D20E-70F4-8320-89417CC7796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642FEA-8FFA-0940-1D03-82F5641AF26F}"/>
              </a:ext>
            </a:extLst>
          </p:cNvPr>
          <p:cNvSpPr>
            <a:spLocks noGrp="1"/>
          </p:cNvSpPr>
          <p:nvPr>
            <p:ph type="dt" sz="half" idx="10"/>
          </p:nvPr>
        </p:nvSpPr>
        <p:spPr/>
        <p:txBody>
          <a:bodyPr/>
          <a:lstStyle/>
          <a:p>
            <a:fld id="{0C0B2C00-CAB0-4407-B176-4A7C3042F7D2}" type="datetimeFigureOut">
              <a:rPr lang="fr-FR" smtClean="0"/>
              <a:t>11/01/2026</a:t>
            </a:fld>
            <a:endParaRPr lang="fr-FR"/>
          </a:p>
        </p:txBody>
      </p:sp>
      <p:sp>
        <p:nvSpPr>
          <p:cNvPr id="5" name="Espace réservé du pied de page 4">
            <a:extLst>
              <a:ext uri="{FF2B5EF4-FFF2-40B4-BE49-F238E27FC236}">
                <a16:creationId xmlns:a16="http://schemas.microsoft.com/office/drawing/2014/main" id="{4C102A2B-EFC1-DD8B-B234-A3F11AD20A8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96046B7-FB0C-AC97-FC78-19972448D27D}"/>
              </a:ext>
            </a:extLst>
          </p:cNvPr>
          <p:cNvSpPr>
            <a:spLocks noGrp="1"/>
          </p:cNvSpPr>
          <p:nvPr>
            <p:ph type="sldNum" sz="quarter" idx="12"/>
          </p:nvPr>
        </p:nvSpPr>
        <p:spPr/>
        <p:txBody>
          <a:bodyPr/>
          <a:lstStyle/>
          <a:p>
            <a:fld id="{93AAEF06-3DDF-47A9-BC8E-0DB1B64A0B22}" type="slidenum">
              <a:rPr lang="fr-FR" smtClean="0"/>
              <a:t>‹N°›</a:t>
            </a:fld>
            <a:endParaRPr lang="fr-FR"/>
          </a:p>
        </p:txBody>
      </p:sp>
    </p:spTree>
    <p:extLst>
      <p:ext uri="{BB962C8B-B14F-4D97-AF65-F5344CB8AC3E}">
        <p14:creationId xmlns:p14="http://schemas.microsoft.com/office/powerpoint/2010/main" val="2299603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Page">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766763" y="684000"/>
            <a:ext cx="10658475" cy="576262"/>
          </a:xfrm>
          <a:prstGeom prst="rect">
            <a:avLst/>
          </a:prstGeom>
        </p:spPr>
        <p:txBody>
          <a:bodyPr vert="horz" lIns="0" tIns="0" rIns="0" bIns="0" rtlCol="0" anchor="t" anchorCtr="0">
            <a:noAutofit/>
          </a:bodyPr>
          <a:lstStyle/>
          <a:p>
            <a:r>
              <a:rPr lang="fr-FR" noProof="0"/>
              <a:t>Modifiez le style du titre</a:t>
            </a:r>
            <a:endParaRPr lang="en-US" noProof="0" dirty="0"/>
          </a:p>
        </p:txBody>
      </p:sp>
      <p:sp>
        <p:nvSpPr>
          <p:cNvPr id="11" name="Content Placeholder 20"/>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7" name="Slide Number Placeholder 5">
            <a:extLst>
              <a:ext uri="{FF2B5EF4-FFF2-40B4-BE49-F238E27FC236}">
                <a16:creationId xmlns:a16="http://schemas.microsoft.com/office/drawing/2014/main" id="{72679693-BA13-5E4E-91BE-1606A75B027B}"/>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dirty="0"/>
          </a:p>
        </p:txBody>
      </p:sp>
    </p:spTree>
    <p:extLst>
      <p:ext uri="{BB962C8B-B14F-4D97-AF65-F5344CB8AC3E}">
        <p14:creationId xmlns:p14="http://schemas.microsoft.com/office/powerpoint/2010/main" val="3910528353"/>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8DF3CB-C201-D6B5-558A-8780DBE065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D8DD4DC-003C-6E4F-8744-960B00B135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676527A-34F4-C35E-2090-15D27E84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0B2C00-CAB0-4407-B176-4A7C3042F7D2}" type="datetimeFigureOut">
              <a:rPr lang="fr-FR" smtClean="0"/>
              <a:t>11/01/2026</a:t>
            </a:fld>
            <a:endParaRPr lang="fr-FR"/>
          </a:p>
        </p:txBody>
      </p:sp>
      <p:sp>
        <p:nvSpPr>
          <p:cNvPr id="5" name="Espace réservé du pied de page 4">
            <a:extLst>
              <a:ext uri="{FF2B5EF4-FFF2-40B4-BE49-F238E27FC236}">
                <a16:creationId xmlns:a16="http://schemas.microsoft.com/office/drawing/2014/main" id="{E328A44A-E7D0-1AA9-2F4B-86EF665FFC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AAE8ABC-14E8-0070-C143-E05C5F4848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AAEF06-3DDF-47A9-BC8E-0DB1B64A0B22}" type="slidenum">
              <a:rPr lang="fr-FR" smtClean="0"/>
              <a:t>‹N°›</a:t>
            </a:fld>
            <a:endParaRPr lang="fr-FR"/>
          </a:p>
        </p:txBody>
      </p:sp>
    </p:spTree>
    <p:extLst>
      <p:ext uri="{BB962C8B-B14F-4D97-AF65-F5344CB8AC3E}">
        <p14:creationId xmlns:p14="http://schemas.microsoft.com/office/powerpoint/2010/main" val="1560966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29CE543-63A5-6497-3126-34FB6A4ACCDA}"/>
              </a:ext>
            </a:extLst>
          </p:cNvPr>
          <p:cNvSpPr>
            <a:spLocks noGrp="1"/>
          </p:cNvSpPr>
          <p:nvPr>
            <p:ph sz="quarter" idx="17"/>
          </p:nvPr>
        </p:nvSpPr>
        <p:spPr>
          <a:xfrm>
            <a:off x="1410096" y="1453822"/>
            <a:ext cx="9414667" cy="2805342"/>
          </a:xfrm>
        </p:spPr>
        <p:txBody>
          <a:bodyPr/>
          <a:lstStyle/>
          <a:p>
            <a:endParaRPr lang="fr-FR" sz="1800" dirty="0">
              <a:latin typeface="+mj-lt"/>
            </a:endParaRPr>
          </a:p>
          <a:p>
            <a:pPr marL="342900" indent="-342900">
              <a:buFont typeface="Arial" panose="020B0604020202020204" pitchFamily="34" charset="0"/>
              <a:buChar char="•"/>
            </a:pPr>
            <a:r>
              <a:rPr lang="fr-FR" sz="1800" dirty="0">
                <a:latin typeface="+mj-lt"/>
              </a:rPr>
              <a:t>Traitement {x} manipulant un volume de données croissant</a:t>
            </a:r>
          </a:p>
          <a:p>
            <a:pPr marL="342900" indent="-342900">
              <a:buFont typeface="Arial" panose="020B0604020202020204" pitchFamily="34" charset="0"/>
              <a:buChar char="•"/>
            </a:pPr>
            <a:r>
              <a:rPr lang="fr-FR" sz="1800" dirty="0">
                <a:latin typeface="+mj-lt"/>
              </a:rPr>
              <a:t>Production {quotidienne} de données de reporting réglementaire</a:t>
            </a:r>
          </a:p>
          <a:p>
            <a:pPr marL="342900" indent="-342900">
              <a:buFont typeface="Arial" panose="020B0604020202020204" pitchFamily="34" charset="0"/>
              <a:buChar char="•"/>
            </a:pPr>
            <a:r>
              <a:rPr lang="fr-FR" sz="1800" dirty="0">
                <a:latin typeface="+mj-lt"/>
              </a:rPr>
              <a:t>Appel d’une API externe soumise à des contraintes de capacité</a:t>
            </a:r>
          </a:p>
          <a:p>
            <a:pPr marL="342900" indent="-342900">
              <a:buFont typeface="Arial" panose="020B0604020202020204" pitchFamily="34" charset="0"/>
              <a:buChar char="•"/>
            </a:pPr>
            <a:r>
              <a:rPr lang="fr-FR" sz="1800" dirty="0">
                <a:latin typeface="+mj-lt"/>
              </a:rPr>
              <a:t>Augmentation continue du trafic</a:t>
            </a:r>
          </a:p>
          <a:p>
            <a:endParaRPr lang="fr-FR" sz="1800" dirty="0">
              <a:latin typeface="+mj-lt"/>
            </a:endParaRPr>
          </a:p>
          <a:p>
            <a:pPr marL="342900" indent="-342900">
              <a:buFont typeface="Arial" panose="020B0604020202020204" pitchFamily="34" charset="0"/>
              <a:buChar char="•"/>
            </a:pPr>
            <a:r>
              <a:rPr lang="fr-FR" sz="1800" dirty="0">
                <a:latin typeface="+mj-lt"/>
              </a:rPr>
              <a:t>Réponse actuelle : duplication de l’infrastructure</a:t>
            </a:r>
          </a:p>
          <a:p>
            <a:endParaRPr lang="fr-FR" sz="1800" dirty="0">
              <a:latin typeface="+mj-lt"/>
            </a:endParaRPr>
          </a:p>
        </p:txBody>
      </p:sp>
      <p:sp>
        <p:nvSpPr>
          <p:cNvPr id="4" name="Espace réservé du numéro de diapositive 3">
            <a:extLst>
              <a:ext uri="{FF2B5EF4-FFF2-40B4-BE49-F238E27FC236}">
                <a16:creationId xmlns:a16="http://schemas.microsoft.com/office/drawing/2014/main" id="{7F45E57D-681D-8434-AE82-5B3E547519E8}"/>
              </a:ext>
            </a:extLst>
          </p:cNvPr>
          <p:cNvSpPr>
            <a:spLocks noGrp="1"/>
          </p:cNvSpPr>
          <p:nvPr>
            <p:ph type="sldNum" sz="quarter" idx="4"/>
          </p:nvPr>
        </p:nvSpPr>
        <p:spPr/>
        <p:txBody>
          <a:bodyPr/>
          <a:lstStyle/>
          <a:p>
            <a:fld id="{525A3C56-E491-49B2-93F3-63532DF516BC}" type="slidenum">
              <a:rPr lang="en-CA" smtClean="0"/>
              <a:pPr/>
              <a:t>1</a:t>
            </a:fld>
            <a:endParaRPr lang="en-CA" dirty="0"/>
          </a:p>
        </p:txBody>
      </p:sp>
      <p:graphicFrame>
        <p:nvGraphicFramePr>
          <p:cNvPr id="5" name="Tableau 4">
            <a:extLst>
              <a:ext uri="{FF2B5EF4-FFF2-40B4-BE49-F238E27FC236}">
                <a16:creationId xmlns:a16="http://schemas.microsoft.com/office/drawing/2014/main" id="{6A5D3CA5-25A9-AA4B-F949-FD505F28989B}"/>
              </a:ext>
            </a:extLst>
          </p:cNvPr>
          <p:cNvGraphicFramePr>
            <a:graphicFrameLocks noGrp="1"/>
          </p:cNvGraphicFramePr>
          <p:nvPr>
            <p:extLst>
              <p:ext uri="{D42A27DB-BD31-4B8C-83A1-F6EECF244321}">
                <p14:modId xmlns:p14="http://schemas.microsoft.com/office/powerpoint/2010/main" val="3718702771"/>
              </p:ext>
            </p:extLst>
          </p:nvPr>
        </p:nvGraphicFramePr>
        <p:xfrm>
          <a:off x="2053431" y="222852"/>
          <a:ext cx="8127999" cy="762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98696377"/>
                    </a:ext>
                  </a:extLst>
                </a:gridCol>
                <a:gridCol w="2709333">
                  <a:extLst>
                    <a:ext uri="{9D8B030D-6E8A-4147-A177-3AD203B41FA5}">
                      <a16:colId xmlns:a16="http://schemas.microsoft.com/office/drawing/2014/main" val="82454324"/>
                    </a:ext>
                  </a:extLst>
                </a:gridCol>
                <a:gridCol w="2709333">
                  <a:extLst>
                    <a:ext uri="{9D8B030D-6E8A-4147-A177-3AD203B41FA5}">
                      <a16:colId xmlns:a16="http://schemas.microsoft.com/office/drawing/2014/main" val="2569036744"/>
                    </a:ext>
                  </a:extLst>
                </a:gridCol>
              </a:tblGrid>
              <a:tr h="370840">
                <a:tc>
                  <a:txBody>
                    <a:bodyPr/>
                    <a:lstStyle/>
                    <a:p>
                      <a:endParaRPr lang="fr-FR" dirty="0"/>
                    </a:p>
                  </a:txBody>
                  <a:tcPr>
                    <a:noFill/>
                  </a:tcPr>
                </a:tc>
                <a:tc>
                  <a:txBody>
                    <a:bodyPr/>
                    <a:lstStyle/>
                    <a:p>
                      <a:pPr algn="ctr"/>
                      <a:r>
                        <a:rPr lang="fr-FR" sz="2000" b="1" kern="1200" dirty="0">
                          <a:solidFill>
                            <a:schemeClr val="tx1"/>
                          </a:solidFill>
                          <a:latin typeface="+mn-lt"/>
                          <a:ea typeface="+mn-ea"/>
                          <a:cs typeface="+mn-cs"/>
                        </a:rPr>
                        <a:t>Contexte &amp; objectif</a:t>
                      </a:r>
                    </a:p>
                  </a:txBody>
                  <a:tcPr>
                    <a:lnB w="12700" cap="flat" cmpd="sng" algn="ctr">
                      <a:solidFill>
                        <a:schemeClr val="tx1"/>
                      </a:solidFill>
                      <a:prstDash val="solid"/>
                      <a:round/>
                      <a:headEnd type="none" w="med" len="med"/>
                      <a:tailEnd type="none" w="med" len="med"/>
                    </a:lnB>
                    <a:noFill/>
                  </a:tcPr>
                </a:tc>
                <a:tc>
                  <a:txBody>
                    <a:bodyPr/>
                    <a:lstStyle/>
                    <a:p>
                      <a:endParaRPr lang="fr-FR" sz="2000" b="1" kern="1200" dirty="0">
                        <a:solidFill>
                          <a:schemeClr val="tx1"/>
                        </a:solidFill>
                        <a:latin typeface="+mn-lt"/>
                        <a:ea typeface="+mn-ea"/>
                        <a:cs typeface="+mn-cs"/>
                      </a:endParaRPr>
                    </a:p>
                  </a:txBody>
                  <a:tcPr>
                    <a:noFill/>
                  </a:tcPr>
                </a:tc>
                <a:extLst>
                  <a:ext uri="{0D108BD9-81ED-4DB2-BD59-A6C34878D82A}">
                    <a16:rowId xmlns:a16="http://schemas.microsoft.com/office/drawing/2014/main" val="3177958878"/>
                  </a:ext>
                </a:extLst>
              </a:tr>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0" kern="1200" dirty="0">
                          <a:solidFill>
                            <a:srgbClr val="BD1C3A"/>
                          </a:solidFill>
                          <a:latin typeface="+mn-lt"/>
                          <a:ea typeface="+mn-ea"/>
                          <a:cs typeface="+mn-cs"/>
                        </a:rPr>
                        <a:t>Avis d’architecture – Optimisation de la montée en charge</a:t>
                      </a:r>
                    </a:p>
                  </a:txBody>
                  <a:tcPr>
                    <a:noFill/>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1062071459"/>
                  </a:ext>
                </a:extLst>
              </a:tr>
            </a:tbl>
          </a:graphicData>
        </a:graphic>
      </p:graphicFrame>
    </p:spTree>
    <p:extLst>
      <p:ext uri="{BB962C8B-B14F-4D97-AF65-F5344CB8AC3E}">
        <p14:creationId xmlns:p14="http://schemas.microsoft.com/office/powerpoint/2010/main" val="1191331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A2EDC3F4-7931-172D-87EC-AD0630376D02}"/>
              </a:ext>
            </a:extLst>
          </p:cNvPr>
          <p:cNvSpPr>
            <a:spLocks noGrp="1"/>
          </p:cNvSpPr>
          <p:nvPr>
            <p:ph type="sldNum" sz="quarter" idx="4"/>
          </p:nvPr>
        </p:nvSpPr>
        <p:spPr/>
        <p:txBody>
          <a:bodyPr/>
          <a:lstStyle/>
          <a:p>
            <a:fld id="{525A3C56-E491-49B2-93F3-63532DF516BC}" type="slidenum">
              <a:rPr lang="en-CA" smtClean="0"/>
              <a:pPr/>
              <a:t>2</a:t>
            </a:fld>
            <a:endParaRPr lang="en-CA" dirty="0"/>
          </a:p>
        </p:txBody>
      </p:sp>
      <p:graphicFrame>
        <p:nvGraphicFramePr>
          <p:cNvPr id="7" name="Tableau 6">
            <a:extLst>
              <a:ext uri="{FF2B5EF4-FFF2-40B4-BE49-F238E27FC236}">
                <a16:creationId xmlns:a16="http://schemas.microsoft.com/office/drawing/2014/main" id="{99CB1ED2-612A-6B6D-19B1-A4460D9392C3}"/>
              </a:ext>
            </a:extLst>
          </p:cNvPr>
          <p:cNvGraphicFramePr>
            <a:graphicFrameLocks noGrp="1"/>
          </p:cNvGraphicFramePr>
          <p:nvPr>
            <p:extLst>
              <p:ext uri="{D42A27DB-BD31-4B8C-83A1-F6EECF244321}">
                <p14:modId xmlns:p14="http://schemas.microsoft.com/office/powerpoint/2010/main" val="2597105924"/>
              </p:ext>
            </p:extLst>
          </p:nvPr>
        </p:nvGraphicFramePr>
        <p:xfrm>
          <a:off x="2053431" y="222852"/>
          <a:ext cx="8127999" cy="762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98696377"/>
                    </a:ext>
                  </a:extLst>
                </a:gridCol>
                <a:gridCol w="2709333">
                  <a:extLst>
                    <a:ext uri="{9D8B030D-6E8A-4147-A177-3AD203B41FA5}">
                      <a16:colId xmlns:a16="http://schemas.microsoft.com/office/drawing/2014/main" val="82454324"/>
                    </a:ext>
                  </a:extLst>
                </a:gridCol>
                <a:gridCol w="2709333">
                  <a:extLst>
                    <a:ext uri="{9D8B030D-6E8A-4147-A177-3AD203B41FA5}">
                      <a16:colId xmlns:a16="http://schemas.microsoft.com/office/drawing/2014/main" val="2569036744"/>
                    </a:ext>
                  </a:extLst>
                </a:gridCol>
              </a:tblGrid>
              <a:tr h="370840">
                <a:tc>
                  <a:txBody>
                    <a:bodyPr/>
                    <a:lstStyle/>
                    <a:p>
                      <a:endParaRPr lang="fr-FR" dirty="0"/>
                    </a:p>
                  </a:txBody>
                  <a:tcPr>
                    <a:noFill/>
                  </a:tcPr>
                </a:tc>
                <a:tc>
                  <a:txBody>
                    <a:bodyPr/>
                    <a:lstStyle/>
                    <a:p>
                      <a:pPr algn="ctr"/>
                      <a:r>
                        <a:rPr lang="fr-FR" sz="2000" b="1" kern="1200" dirty="0">
                          <a:solidFill>
                            <a:schemeClr val="tx1"/>
                          </a:solidFill>
                          <a:latin typeface="+mn-lt"/>
                          <a:ea typeface="+mn-ea"/>
                          <a:cs typeface="+mn-cs"/>
                        </a:rPr>
                        <a:t>Contexte &amp; objectif</a:t>
                      </a:r>
                    </a:p>
                  </a:txBody>
                  <a:tcPr>
                    <a:lnB w="12700" cap="flat" cmpd="sng" algn="ctr">
                      <a:solidFill>
                        <a:schemeClr val="tx1"/>
                      </a:solidFill>
                      <a:prstDash val="solid"/>
                      <a:round/>
                      <a:headEnd type="none" w="med" len="med"/>
                      <a:tailEnd type="none" w="med" len="med"/>
                    </a:lnB>
                    <a:noFill/>
                  </a:tcPr>
                </a:tc>
                <a:tc>
                  <a:txBody>
                    <a:bodyPr/>
                    <a:lstStyle/>
                    <a:p>
                      <a:endParaRPr lang="fr-FR" sz="2000" b="1" kern="1200" dirty="0">
                        <a:solidFill>
                          <a:schemeClr val="tx1"/>
                        </a:solidFill>
                        <a:latin typeface="+mn-lt"/>
                        <a:ea typeface="+mn-ea"/>
                        <a:cs typeface="+mn-cs"/>
                      </a:endParaRPr>
                    </a:p>
                  </a:txBody>
                  <a:tcPr>
                    <a:noFill/>
                  </a:tcPr>
                </a:tc>
                <a:extLst>
                  <a:ext uri="{0D108BD9-81ED-4DB2-BD59-A6C34878D82A}">
                    <a16:rowId xmlns:a16="http://schemas.microsoft.com/office/drawing/2014/main" val="3177958878"/>
                  </a:ext>
                </a:extLst>
              </a:tr>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0" kern="1200" dirty="0">
                          <a:solidFill>
                            <a:srgbClr val="BD1C3A"/>
                          </a:solidFill>
                          <a:latin typeface="+mn-lt"/>
                          <a:ea typeface="+mn-ea"/>
                          <a:cs typeface="+mn-cs"/>
                        </a:rPr>
                        <a:t>Architecture actuelle (constat)</a:t>
                      </a:r>
                    </a:p>
                  </a:txBody>
                  <a:tcPr>
                    <a:noFill/>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1062071459"/>
                  </a:ext>
                </a:extLst>
              </a:tr>
            </a:tbl>
          </a:graphicData>
        </a:graphic>
      </p:graphicFrame>
      <p:graphicFrame>
        <p:nvGraphicFramePr>
          <p:cNvPr id="8" name="Tableau 7">
            <a:extLst>
              <a:ext uri="{FF2B5EF4-FFF2-40B4-BE49-F238E27FC236}">
                <a16:creationId xmlns:a16="http://schemas.microsoft.com/office/drawing/2014/main" id="{5FBEF908-8241-7702-EFAF-3EF25F4FFAC1}"/>
              </a:ext>
            </a:extLst>
          </p:cNvPr>
          <p:cNvGraphicFramePr>
            <a:graphicFrameLocks noGrp="1"/>
          </p:cNvGraphicFramePr>
          <p:nvPr>
            <p:extLst>
              <p:ext uri="{D42A27DB-BD31-4B8C-83A1-F6EECF244321}">
                <p14:modId xmlns:p14="http://schemas.microsoft.com/office/powerpoint/2010/main" val="3928262741"/>
              </p:ext>
            </p:extLst>
          </p:nvPr>
        </p:nvGraphicFramePr>
        <p:xfrm>
          <a:off x="1190445" y="1207700"/>
          <a:ext cx="10196423" cy="2926080"/>
        </p:xfrm>
        <a:graphic>
          <a:graphicData uri="http://schemas.openxmlformats.org/drawingml/2006/table">
            <a:tbl>
              <a:tblPr firstRow="1" bandRow="1">
                <a:tableStyleId>{5940675A-B579-460E-94D1-54222C63F5DA}</a:tableStyleId>
              </a:tblPr>
              <a:tblGrid>
                <a:gridCol w="4532618">
                  <a:extLst>
                    <a:ext uri="{9D8B030D-6E8A-4147-A177-3AD203B41FA5}">
                      <a16:colId xmlns:a16="http://schemas.microsoft.com/office/drawing/2014/main" val="3268617120"/>
                    </a:ext>
                  </a:extLst>
                </a:gridCol>
                <a:gridCol w="5663805">
                  <a:extLst>
                    <a:ext uri="{9D8B030D-6E8A-4147-A177-3AD203B41FA5}">
                      <a16:colId xmlns:a16="http://schemas.microsoft.com/office/drawing/2014/main" val="454085535"/>
                    </a:ext>
                  </a:extLst>
                </a:gridCol>
              </a:tblGrid>
              <a:tr h="945666">
                <a:tc>
                  <a:txBody>
                    <a:bodyPr/>
                    <a:lstStyle/>
                    <a:p>
                      <a:r>
                        <a:rPr lang="fr-FR" dirty="0"/>
                        <a:t>Traitement {x}</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calcul + persistance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appel direct à l’API réglementaire</a:t>
                      </a:r>
                    </a:p>
                    <a:p>
                      <a:pPr marL="285750" indent="-285750">
                        <a:buFont typeface="Arial" panose="020B0604020202020204" pitchFamily="34" charset="0"/>
                        <a:buChar char="•"/>
                      </a:pPr>
                      <a:endParaRPr lang="fr-FR" dirty="0"/>
                    </a:p>
                  </a:txBody>
                  <a:tcPr/>
                </a:tc>
                <a:tc>
                  <a:txBody>
                    <a:bodyPr/>
                    <a:lstStyle/>
                    <a:p>
                      <a:r>
                        <a:rPr lang="fr-FR" dirty="0"/>
                        <a:t>Montée en charge absorbée par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duplication des instances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augmentation des ressources</a:t>
                      </a:r>
                    </a:p>
                    <a:p>
                      <a:pPr marL="285750" indent="-285750">
                        <a:buFont typeface="Arial" panose="020B0604020202020204" pitchFamily="34" charset="0"/>
                        <a:buChar char="•"/>
                      </a:pPr>
                      <a:endParaRPr lang="fr-FR" dirty="0"/>
                    </a:p>
                  </a:txBody>
                  <a:tcPr/>
                </a:tc>
                <a:extLst>
                  <a:ext uri="{0D108BD9-81ED-4DB2-BD59-A6C34878D82A}">
                    <a16:rowId xmlns:a16="http://schemas.microsoft.com/office/drawing/2014/main" val="3601416876"/>
                  </a:ext>
                </a:extLst>
              </a:tr>
              <a:tr h="9456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Couplage fort entre :</a:t>
                      </a:r>
                    </a:p>
                    <a:p>
                      <a:pPr marL="285750" indent="-285750">
                        <a:buFont typeface="Arial" panose="020B0604020202020204" pitchFamily="34" charset="0"/>
                        <a:buChar char="•"/>
                      </a:pPr>
                      <a:r>
                        <a:rPr lang="fr-FR" dirty="0"/>
                        <a:t>Calcul</a:t>
                      </a:r>
                    </a:p>
                    <a:p>
                      <a:pPr marL="285750" indent="-285750">
                        <a:buFont typeface="Arial" panose="020B0604020202020204" pitchFamily="34" charset="0"/>
                        <a:buChar char="•"/>
                      </a:pPr>
                      <a:r>
                        <a:rPr lang="fr-FR" dirty="0"/>
                        <a:t>Stockage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Exposition externe</a:t>
                      </a:r>
                    </a:p>
                  </a:txBody>
                  <a:tcPr/>
                </a:tc>
                <a:tc>
                  <a:txBody>
                    <a:bodyPr/>
                    <a:lstStyle/>
                    <a:p>
                      <a:pPr marL="0" indent="0">
                        <a:buFont typeface="Arial" panose="020B0604020202020204" pitchFamily="34" charset="0"/>
                        <a:buNone/>
                      </a:pPr>
                      <a:r>
                        <a:rPr lang="fr-FR" dirty="0"/>
                        <a:t>Limites de la solution actuelle :</a:t>
                      </a:r>
                    </a:p>
                    <a:p>
                      <a:pPr marL="285750" indent="-285750">
                        <a:buFont typeface="Arial" panose="020B0604020202020204" pitchFamily="34" charset="0"/>
                        <a:buChar char="•"/>
                      </a:pPr>
                      <a:r>
                        <a:rPr lang="fr-FR" dirty="0"/>
                        <a:t>Explosion des coûts d’infrastructure</a:t>
                      </a:r>
                    </a:p>
                    <a:p>
                      <a:pPr marL="285750" indent="-285750">
                        <a:buFont typeface="Arial" panose="020B0604020202020204" pitchFamily="34" charset="0"/>
                        <a:buChar char="•"/>
                      </a:pPr>
                      <a:r>
                        <a:rPr lang="fr-FR" dirty="0"/>
                        <a:t>Dépendance directe au débit de l’API externe</a:t>
                      </a:r>
                    </a:p>
                    <a:p>
                      <a:pPr marL="285750" indent="-285750">
                        <a:buFont typeface="Arial" panose="020B0604020202020204" pitchFamily="34" charset="0"/>
                        <a:buChar char="•"/>
                      </a:pPr>
                      <a:r>
                        <a:rPr lang="fr-FR" dirty="0"/>
                        <a:t>Scalabilité non maîtrisée</a:t>
                      </a:r>
                    </a:p>
                    <a:p>
                      <a:pPr marL="285750" indent="-285750">
                        <a:buFont typeface="Arial" panose="020B0604020202020204" pitchFamily="34" charset="0"/>
                        <a:buChar char="•"/>
                      </a:pPr>
                      <a:r>
                        <a:rPr lang="fr-FR" dirty="0"/>
                        <a:t>Difficulté de reprise / rejouabilité</a:t>
                      </a:r>
                    </a:p>
                    <a:p>
                      <a:pPr marL="285750" indent="-285750">
                        <a:buFont typeface="Arial" panose="020B0604020202020204" pitchFamily="34" charset="0"/>
                        <a:buChar char="•"/>
                      </a:pPr>
                      <a:r>
                        <a:rPr lang="fr-FR" dirty="0"/>
                        <a:t>Absence de contrôle fin du débit</a:t>
                      </a:r>
                    </a:p>
                  </a:txBody>
                  <a:tcPr/>
                </a:tc>
                <a:extLst>
                  <a:ext uri="{0D108BD9-81ED-4DB2-BD59-A6C34878D82A}">
                    <a16:rowId xmlns:a16="http://schemas.microsoft.com/office/drawing/2014/main" val="262002079"/>
                  </a:ext>
                </a:extLst>
              </a:tr>
            </a:tbl>
          </a:graphicData>
        </a:graphic>
      </p:graphicFrame>
      <p:graphicFrame>
        <p:nvGraphicFramePr>
          <p:cNvPr id="9" name="Tableau 8">
            <a:extLst>
              <a:ext uri="{FF2B5EF4-FFF2-40B4-BE49-F238E27FC236}">
                <a16:creationId xmlns:a16="http://schemas.microsoft.com/office/drawing/2014/main" id="{B934AE12-929B-6691-8A61-7DB154A1F33B}"/>
              </a:ext>
            </a:extLst>
          </p:cNvPr>
          <p:cNvGraphicFramePr>
            <a:graphicFrameLocks noGrp="1"/>
          </p:cNvGraphicFramePr>
          <p:nvPr>
            <p:extLst>
              <p:ext uri="{D42A27DB-BD31-4B8C-83A1-F6EECF244321}">
                <p14:modId xmlns:p14="http://schemas.microsoft.com/office/powerpoint/2010/main" val="2799784384"/>
              </p:ext>
            </p:extLst>
          </p:nvPr>
        </p:nvGraphicFramePr>
        <p:xfrm>
          <a:off x="1190445" y="4848046"/>
          <a:ext cx="10196423" cy="1328468"/>
        </p:xfrm>
        <a:graphic>
          <a:graphicData uri="http://schemas.openxmlformats.org/drawingml/2006/table">
            <a:tbl>
              <a:tblPr firstRow="1" bandRow="1">
                <a:tableStyleId>{5940675A-B579-460E-94D1-54222C63F5DA}</a:tableStyleId>
              </a:tblPr>
              <a:tblGrid>
                <a:gridCol w="10196423">
                  <a:extLst>
                    <a:ext uri="{9D8B030D-6E8A-4147-A177-3AD203B41FA5}">
                      <a16:colId xmlns:a16="http://schemas.microsoft.com/office/drawing/2014/main" val="466055818"/>
                    </a:ext>
                  </a:extLst>
                </a:gridCol>
              </a:tblGrid>
              <a:tr h="1328468">
                <a:tc>
                  <a:txBody>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Découpler le calcul de la diffusion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Introduire une architecture orientée événements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Absorber la variabilité de charge via un broker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Piloter le débit par le maillon le plus lent : l’API externe</a:t>
                      </a:r>
                    </a:p>
                  </a:txBody>
                  <a:tcPr/>
                </a:tc>
                <a:extLst>
                  <a:ext uri="{0D108BD9-81ED-4DB2-BD59-A6C34878D82A}">
                    <a16:rowId xmlns:a16="http://schemas.microsoft.com/office/drawing/2014/main" val="3395954679"/>
                  </a:ext>
                </a:extLst>
              </a:tr>
            </a:tbl>
          </a:graphicData>
        </a:graphic>
      </p:graphicFrame>
      <p:sp>
        <p:nvSpPr>
          <p:cNvPr id="10" name="ZoneTexte 9">
            <a:extLst>
              <a:ext uri="{FF2B5EF4-FFF2-40B4-BE49-F238E27FC236}">
                <a16:creationId xmlns:a16="http://schemas.microsoft.com/office/drawing/2014/main" id="{3D183AFF-F640-C581-066B-A127C9044A19}"/>
              </a:ext>
            </a:extLst>
          </p:cNvPr>
          <p:cNvSpPr txBox="1"/>
          <p:nvPr/>
        </p:nvSpPr>
        <p:spPr>
          <a:xfrm>
            <a:off x="1144659" y="4468483"/>
            <a:ext cx="3013274" cy="369332"/>
          </a:xfrm>
          <a:prstGeom prst="rect">
            <a:avLst/>
          </a:prstGeom>
          <a:noFill/>
        </p:spPr>
        <p:txBody>
          <a:bodyPr wrap="square" rtlCol="0">
            <a:spAutoFit/>
          </a:bodyPr>
          <a:lstStyle/>
          <a:p>
            <a:r>
              <a:rPr lang="fr-FR" dirty="0">
                <a:solidFill>
                  <a:srgbClr val="BD1C3A"/>
                </a:solidFill>
              </a:rPr>
              <a:t>Principe</a:t>
            </a:r>
            <a:r>
              <a:rPr lang="fr-FR" dirty="0"/>
              <a:t> </a:t>
            </a:r>
            <a:r>
              <a:rPr lang="fr-FR" dirty="0">
                <a:solidFill>
                  <a:srgbClr val="BD1C3A"/>
                </a:solidFill>
              </a:rPr>
              <a:t>d’architecture cible</a:t>
            </a:r>
          </a:p>
        </p:txBody>
      </p:sp>
    </p:spTree>
    <p:extLst>
      <p:ext uri="{BB962C8B-B14F-4D97-AF65-F5344CB8AC3E}">
        <p14:creationId xmlns:p14="http://schemas.microsoft.com/office/powerpoint/2010/main" val="1479620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BB51D51-CD88-D242-BE48-EEC59032A8D3}"/>
              </a:ext>
            </a:extLst>
          </p:cNvPr>
          <p:cNvSpPr>
            <a:spLocks noGrp="1"/>
          </p:cNvSpPr>
          <p:nvPr>
            <p:ph type="sldNum" sz="quarter" idx="4"/>
          </p:nvPr>
        </p:nvSpPr>
        <p:spPr/>
        <p:txBody>
          <a:bodyPr/>
          <a:lstStyle/>
          <a:p>
            <a:fld id="{525A3C56-E491-49B2-93F3-63532DF516BC}" type="slidenum">
              <a:rPr lang="en-CA" smtClean="0"/>
              <a:pPr/>
              <a:t>3</a:t>
            </a:fld>
            <a:endParaRPr lang="en-CA" dirty="0"/>
          </a:p>
        </p:txBody>
      </p:sp>
      <p:graphicFrame>
        <p:nvGraphicFramePr>
          <p:cNvPr id="7" name="Tableau 6">
            <a:extLst>
              <a:ext uri="{FF2B5EF4-FFF2-40B4-BE49-F238E27FC236}">
                <a16:creationId xmlns:a16="http://schemas.microsoft.com/office/drawing/2014/main" id="{37869683-2F4E-1657-35AA-23F81DA636B7}"/>
              </a:ext>
            </a:extLst>
          </p:cNvPr>
          <p:cNvGraphicFramePr>
            <a:graphicFrameLocks noGrp="1"/>
          </p:cNvGraphicFramePr>
          <p:nvPr>
            <p:extLst>
              <p:ext uri="{D42A27DB-BD31-4B8C-83A1-F6EECF244321}">
                <p14:modId xmlns:p14="http://schemas.microsoft.com/office/powerpoint/2010/main" val="3509093367"/>
              </p:ext>
            </p:extLst>
          </p:nvPr>
        </p:nvGraphicFramePr>
        <p:xfrm>
          <a:off x="2053431" y="222852"/>
          <a:ext cx="8127999" cy="762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98696377"/>
                    </a:ext>
                  </a:extLst>
                </a:gridCol>
                <a:gridCol w="2709333">
                  <a:extLst>
                    <a:ext uri="{9D8B030D-6E8A-4147-A177-3AD203B41FA5}">
                      <a16:colId xmlns:a16="http://schemas.microsoft.com/office/drawing/2014/main" val="82454324"/>
                    </a:ext>
                  </a:extLst>
                </a:gridCol>
                <a:gridCol w="2709333">
                  <a:extLst>
                    <a:ext uri="{9D8B030D-6E8A-4147-A177-3AD203B41FA5}">
                      <a16:colId xmlns:a16="http://schemas.microsoft.com/office/drawing/2014/main" val="2569036744"/>
                    </a:ext>
                  </a:extLst>
                </a:gridCol>
              </a:tblGrid>
              <a:tr h="370840">
                <a:tc>
                  <a:txBody>
                    <a:bodyPr/>
                    <a:lstStyle/>
                    <a:p>
                      <a:endParaRPr lang="fr-FR" dirty="0"/>
                    </a:p>
                  </a:txBody>
                  <a:tcPr>
                    <a:noFill/>
                  </a:tcPr>
                </a:tc>
                <a:tc>
                  <a:txBody>
                    <a:bodyPr/>
                    <a:lstStyle/>
                    <a:p>
                      <a:pPr algn="ctr"/>
                      <a:r>
                        <a:rPr lang="fr-FR" sz="2000" b="1" kern="1200" dirty="0">
                          <a:solidFill>
                            <a:schemeClr val="tx1"/>
                          </a:solidFill>
                          <a:latin typeface="+mn-lt"/>
                          <a:ea typeface="+mn-ea"/>
                          <a:cs typeface="+mn-cs"/>
                        </a:rPr>
                        <a:t>Architecture cible</a:t>
                      </a:r>
                    </a:p>
                  </a:txBody>
                  <a:tcPr>
                    <a:lnB w="12700" cap="flat" cmpd="sng" algn="ctr">
                      <a:solidFill>
                        <a:schemeClr val="tx1"/>
                      </a:solidFill>
                      <a:prstDash val="solid"/>
                      <a:round/>
                      <a:headEnd type="none" w="med" len="med"/>
                      <a:tailEnd type="none" w="med" len="med"/>
                    </a:lnB>
                    <a:noFill/>
                  </a:tcPr>
                </a:tc>
                <a:tc>
                  <a:txBody>
                    <a:bodyPr/>
                    <a:lstStyle/>
                    <a:p>
                      <a:endParaRPr lang="fr-FR" sz="2000" b="1" kern="1200" dirty="0">
                        <a:solidFill>
                          <a:schemeClr val="tx1"/>
                        </a:solidFill>
                        <a:latin typeface="+mn-lt"/>
                        <a:ea typeface="+mn-ea"/>
                        <a:cs typeface="+mn-cs"/>
                      </a:endParaRPr>
                    </a:p>
                  </a:txBody>
                  <a:tcPr>
                    <a:noFill/>
                  </a:tcPr>
                </a:tc>
                <a:extLst>
                  <a:ext uri="{0D108BD9-81ED-4DB2-BD59-A6C34878D82A}">
                    <a16:rowId xmlns:a16="http://schemas.microsoft.com/office/drawing/2014/main" val="3177958878"/>
                  </a:ext>
                </a:extLst>
              </a:tr>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0" kern="1200" dirty="0">
                          <a:solidFill>
                            <a:srgbClr val="BD1C3A"/>
                          </a:solidFill>
                          <a:latin typeface="+mn-lt"/>
                          <a:ea typeface="+mn-ea"/>
                          <a:cs typeface="+mn-cs"/>
                        </a:rPr>
                        <a:t>Architecture cible (vue logique)</a:t>
                      </a:r>
                    </a:p>
                  </a:txBody>
                  <a:tcPr>
                    <a:noFill/>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1062071459"/>
                  </a:ext>
                </a:extLst>
              </a:tr>
            </a:tbl>
          </a:graphicData>
        </a:graphic>
      </p:graphicFrame>
      <p:graphicFrame>
        <p:nvGraphicFramePr>
          <p:cNvPr id="8" name="Tableau 7">
            <a:extLst>
              <a:ext uri="{FF2B5EF4-FFF2-40B4-BE49-F238E27FC236}">
                <a16:creationId xmlns:a16="http://schemas.microsoft.com/office/drawing/2014/main" id="{BAB887CA-567D-498E-61CC-615385604B53}"/>
              </a:ext>
            </a:extLst>
          </p:cNvPr>
          <p:cNvGraphicFramePr>
            <a:graphicFrameLocks noGrp="1"/>
          </p:cNvGraphicFramePr>
          <p:nvPr>
            <p:extLst>
              <p:ext uri="{D42A27DB-BD31-4B8C-83A1-F6EECF244321}">
                <p14:modId xmlns:p14="http://schemas.microsoft.com/office/powerpoint/2010/main" val="1039281058"/>
              </p:ext>
            </p:extLst>
          </p:nvPr>
        </p:nvGraphicFramePr>
        <p:xfrm>
          <a:off x="1190445" y="1207700"/>
          <a:ext cx="10234249" cy="3200400"/>
        </p:xfrm>
        <a:graphic>
          <a:graphicData uri="http://schemas.openxmlformats.org/drawingml/2006/table">
            <a:tbl>
              <a:tblPr firstRow="1" bandRow="1"/>
              <a:tblGrid>
                <a:gridCol w="4654143">
                  <a:extLst>
                    <a:ext uri="{9D8B030D-6E8A-4147-A177-3AD203B41FA5}">
                      <a16:colId xmlns:a16="http://schemas.microsoft.com/office/drawing/2014/main" val="3268617120"/>
                    </a:ext>
                  </a:extLst>
                </a:gridCol>
                <a:gridCol w="5580106">
                  <a:extLst>
                    <a:ext uri="{9D8B030D-6E8A-4147-A177-3AD203B41FA5}">
                      <a16:colId xmlns:a16="http://schemas.microsoft.com/office/drawing/2014/main" val="454085535"/>
                    </a:ext>
                  </a:extLst>
                </a:gridCol>
              </a:tblGrid>
              <a:tr h="945666">
                <a:tc>
                  <a:txBody>
                    <a:bodyPr/>
                    <a:lstStyle/>
                    <a:p>
                      <a:r>
                        <a:rPr lang="fr-FR" dirty="0"/>
                        <a:t>Traitement {x}</a:t>
                      </a:r>
                    </a:p>
                    <a:p>
                      <a:pPr marL="285750" indent="-285750">
                        <a:buFont typeface="Arial" panose="020B0604020202020204" pitchFamily="34" charset="0"/>
                        <a:buChar char="•"/>
                      </a:pPr>
                      <a:r>
                        <a:rPr lang="fr-FR" dirty="0"/>
                        <a:t>Calcul et enrichissement</a:t>
                      </a:r>
                    </a:p>
                    <a:p>
                      <a:pPr marL="285750" indent="-285750">
                        <a:buFont typeface="Arial" panose="020B0604020202020204" pitchFamily="34" charset="0"/>
                        <a:buChar char="•"/>
                      </a:pPr>
                      <a:r>
                        <a:rPr lang="fr-FR" dirty="0"/>
                        <a:t>Stockage du résultat en base (source de vérité)</a:t>
                      </a:r>
                    </a:p>
                    <a:p>
                      <a:pPr marL="285750" indent="-285750">
                        <a:buFont typeface="Arial" panose="020B0604020202020204" pitchFamily="34" charset="0"/>
                        <a:buChar char="•"/>
                      </a:pPr>
                      <a:endParaRPr lang="fr-FR" dirty="0"/>
                    </a:p>
                  </a:txBody>
                  <a:tcPr/>
                </a:tc>
                <a:tc>
                  <a:txBody>
                    <a:bodyPr/>
                    <a:lstStyle/>
                    <a:p>
                      <a:r>
                        <a:rPr lang="fr-FR" dirty="0"/>
                        <a:t>Broker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Rétention définie selon capacité et SLA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dirty="0"/>
                        <a:t>Point-to-Point (Queue)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fr-FR" dirty="0"/>
                    </a:p>
                  </a:txBody>
                  <a:tcPr/>
                </a:tc>
                <a:extLst>
                  <a:ext uri="{0D108BD9-81ED-4DB2-BD59-A6C34878D82A}">
                    <a16:rowId xmlns:a16="http://schemas.microsoft.com/office/drawing/2014/main" val="3601416876"/>
                  </a:ext>
                </a:extLst>
              </a:tr>
              <a:tr h="945666">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Publication des événements :</a:t>
                      </a:r>
                    </a:p>
                    <a:p>
                      <a:pPr marL="285750" indent="-285750">
                        <a:buFont typeface="Arial" panose="020B0604020202020204" pitchFamily="34" charset="0"/>
                        <a:buChar char="•"/>
                      </a:pPr>
                      <a:r>
                        <a:rPr lang="fr-FR" dirty="0"/>
                        <a:t>CDC / scheduler / batch incrémental</a:t>
                      </a:r>
                    </a:p>
                    <a:p>
                      <a:pPr marL="285750" indent="-285750">
                        <a:buFont typeface="Arial" panose="020B0604020202020204" pitchFamily="34" charset="0"/>
                        <a:buChar char="•"/>
                      </a:pPr>
                      <a:r>
                        <a:rPr lang="fr-FR" dirty="0"/>
                        <a:t>Envoi vers un broker de messages</a:t>
                      </a:r>
                    </a:p>
                    <a:p>
                      <a:pPr marL="0" indent="0">
                        <a:buFont typeface="Arial" panose="020B0604020202020204" pitchFamily="34" charset="0"/>
                        <a:buNone/>
                      </a:pPr>
                      <a:endParaRPr lang="fr-FR" dirty="0"/>
                    </a:p>
                  </a:txBody>
                  <a:tcPr/>
                </a:tc>
                <a:tc>
                  <a:txBody>
                    <a:bodyPr/>
                    <a:lstStyle/>
                    <a:p>
                      <a:pPr marL="0" indent="0">
                        <a:buFont typeface="Arial" panose="020B0604020202020204" pitchFamily="34" charset="0"/>
                        <a:buNone/>
                      </a:pPr>
                      <a:r>
                        <a:rPr lang="fr-FR" dirty="0"/>
                        <a:t>Consumer unique (P2P) :</a:t>
                      </a:r>
                    </a:p>
                    <a:p>
                      <a:pPr marL="285750" indent="-285750">
                        <a:buFont typeface="Arial" panose="020B0604020202020204" pitchFamily="34" charset="0"/>
                        <a:buChar char="•"/>
                      </a:pPr>
                      <a:r>
                        <a:rPr lang="fr-FR" dirty="0"/>
                        <a:t>Lecture séquentielle</a:t>
                      </a:r>
                    </a:p>
                    <a:p>
                      <a:pPr marL="285750" indent="-285750">
                        <a:buFont typeface="Arial" panose="020B0604020202020204" pitchFamily="34" charset="0"/>
                        <a:buChar char="•"/>
                      </a:pPr>
                      <a:r>
                        <a:rPr lang="fr-FR" dirty="0"/>
                        <a:t>Formatage des données</a:t>
                      </a:r>
                    </a:p>
                    <a:p>
                      <a:pPr marL="285750" indent="-285750">
                        <a:buFont typeface="Arial" panose="020B0604020202020204" pitchFamily="34" charset="0"/>
                        <a:buChar char="•"/>
                      </a:pPr>
                      <a:r>
                        <a:rPr lang="fr-FR" dirty="0"/>
                        <a:t>Appel API régulé</a:t>
                      </a:r>
                    </a:p>
                    <a:p>
                      <a:pPr marL="285750" indent="-285750">
                        <a:buFont typeface="Arial" panose="020B0604020202020204" pitchFamily="34" charset="0"/>
                        <a:buChar char="•"/>
                      </a:pPr>
                      <a:r>
                        <a:rPr lang="fr-FR" dirty="0"/>
                        <a:t>Mise à jour du statut de traitement (ACK logique)</a:t>
                      </a:r>
                    </a:p>
                    <a:p>
                      <a:pPr marL="0" indent="0">
                        <a:buFont typeface="Arial" panose="020B0604020202020204" pitchFamily="34" charset="0"/>
                        <a:buNone/>
                      </a:pPr>
                      <a:endParaRPr lang="fr-FR" dirty="0"/>
                    </a:p>
                  </a:txBody>
                  <a:tcPr/>
                </a:tc>
                <a:extLst>
                  <a:ext uri="{0D108BD9-81ED-4DB2-BD59-A6C34878D82A}">
                    <a16:rowId xmlns:a16="http://schemas.microsoft.com/office/drawing/2014/main" val="262002079"/>
                  </a:ext>
                </a:extLst>
              </a:tr>
            </a:tbl>
          </a:graphicData>
        </a:graphic>
      </p:graphicFrame>
      <p:graphicFrame>
        <p:nvGraphicFramePr>
          <p:cNvPr id="11" name="Tableau 10">
            <a:extLst>
              <a:ext uri="{FF2B5EF4-FFF2-40B4-BE49-F238E27FC236}">
                <a16:creationId xmlns:a16="http://schemas.microsoft.com/office/drawing/2014/main" id="{444388A3-0C16-28FC-AECF-0DDFB096CF3B}"/>
              </a:ext>
            </a:extLst>
          </p:cNvPr>
          <p:cNvGraphicFramePr>
            <a:graphicFrameLocks noGrp="1"/>
          </p:cNvGraphicFramePr>
          <p:nvPr>
            <p:extLst>
              <p:ext uri="{D42A27DB-BD31-4B8C-83A1-F6EECF244321}">
                <p14:modId xmlns:p14="http://schemas.microsoft.com/office/powerpoint/2010/main" val="2433471572"/>
              </p:ext>
            </p:extLst>
          </p:nvPr>
        </p:nvGraphicFramePr>
        <p:xfrm>
          <a:off x="1190445" y="5210355"/>
          <a:ext cx="10196423" cy="1328468"/>
        </p:xfrm>
        <a:graphic>
          <a:graphicData uri="http://schemas.openxmlformats.org/drawingml/2006/table">
            <a:tbl>
              <a:tblPr firstRow="1" bandRow="1">
                <a:tableStyleId>{5940675A-B579-460E-94D1-54222C63F5DA}</a:tableStyleId>
              </a:tblPr>
              <a:tblGrid>
                <a:gridCol w="10196423">
                  <a:extLst>
                    <a:ext uri="{9D8B030D-6E8A-4147-A177-3AD203B41FA5}">
                      <a16:colId xmlns:a16="http://schemas.microsoft.com/office/drawing/2014/main" val="466055818"/>
                    </a:ext>
                  </a:extLst>
                </a:gridCol>
              </a:tblGrid>
              <a:tr h="1328468">
                <a:tc>
                  <a:txBody>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Un seul consumer → contrôle strict du débit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Le broker joue un rôle de tampon entre le traitement et l’API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Ajustement dynamique selon : capacité de l’API, fenêtres réglementaires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Possibilité de : pause, reprise, rejouabilité</a:t>
                      </a:r>
                    </a:p>
                  </a:txBody>
                  <a:tcPr/>
                </a:tc>
                <a:extLst>
                  <a:ext uri="{0D108BD9-81ED-4DB2-BD59-A6C34878D82A}">
                    <a16:rowId xmlns:a16="http://schemas.microsoft.com/office/drawing/2014/main" val="3395954679"/>
                  </a:ext>
                </a:extLst>
              </a:tr>
            </a:tbl>
          </a:graphicData>
        </a:graphic>
      </p:graphicFrame>
      <p:sp>
        <p:nvSpPr>
          <p:cNvPr id="12" name="ZoneTexte 11">
            <a:extLst>
              <a:ext uri="{FF2B5EF4-FFF2-40B4-BE49-F238E27FC236}">
                <a16:creationId xmlns:a16="http://schemas.microsoft.com/office/drawing/2014/main" id="{4E85134F-F593-52EF-3556-79ED41148004}"/>
              </a:ext>
            </a:extLst>
          </p:cNvPr>
          <p:cNvSpPr txBox="1"/>
          <p:nvPr/>
        </p:nvSpPr>
        <p:spPr>
          <a:xfrm>
            <a:off x="1144658" y="4830792"/>
            <a:ext cx="3513605" cy="369332"/>
          </a:xfrm>
          <a:prstGeom prst="rect">
            <a:avLst/>
          </a:prstGeom>
          <a:noFill/>
        </p:spPr>
        <p:txBody>
          <a:bodyPr wrap="square" rtlCol="0">
            <a:spAutoFit/>
          </a:bodyPr>
          <a:lstStyle/>
          <a:p>
            <a:r>
              <a:rPr lang="fr-FR" dirty="0">
                <a:solidFill>
                  <a:srgbClr val="BD1C3A"/>
                </a:solidFill>
              </a:rPr>
              <a:t>Maîtrise du débit &amp; résilience</a:t>
            </a:r>
          </a:p>
        </p:txBody>
      </p:sp>
    </p:spTree>
    <p:extLst>
      <p:ext uri="{BB962C8B-B14F-4D97-AF65-F5344CB8AC3E}">
        <p14:creationId xmlns:p14="http://schemas.microsoft.com/office/powerpoint/2010/main" val="1572443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78A6A0-B2B2-B8D9-4B7A-10321DE531F9}"/>
              </a:ext>
            </a:extLst>
          </p:cNvPr>
          <p:cNvSpPr>
            <a:spLocks noGrp="1"/>
          </p:cNvSpPr>
          <p:nvPr>
            <p:ph type="sldNum" sz="quarter" idx="4"/>
          </p:nvPr>
        </p:nvSpPr>
        <p:spPr/>
        <p:txBody>
          <a:bodyPr/>
          <a:lstStyle/>
          <a:p>
            <a:fld id="{525A3C56-E491-49B2-93F3-63532DF516BC}" type="slidenum">
              <a:rPr lang="en-CA" smtClean="0"/>
              <a:pPr/>
              <a:t>4</a:t>
            </a:fld>
            <a:endParaRPr lang="en-CA" dirty="0"/>
          </a:p>
        </p:txBody>
      </p:sp>
      <p:graphicFrame>
        <p:nvGraphicFramePr>
          <p:cNvPr id="5" name="Tableau 4">
            <a:extLst>
              <a:ext uri="{FF2B5EF4-FFF2-40B4-BE49-F238E27FC236}">
                <a16:creationId xmlns:a16="http://schemas.microsoft.com/office/drawing/2014/main" id="{6978C6AE-479A-80F3-3248-9E7C8F755BBC}"/>
              </a:ext>
            </a:extLst>
          </p:cNvPr>
          <p:cNvGraphicFramePr>
            <a:graphicFrameLocks noGrp="1"/>
          </p:cNvGraphicFramePr>
          <p:nvPr>
            <p:extLst>
              <p:ext uri="{D42A27DB-BD31-4B8C-83A1-F6EECF244321}">
                <p14:modId xmlns:p14="http://schemas.microsoft.com/office/powerpoint/2010/main" val="1967934266"/>
              </p:ext>
            </p:extLst>
          </p:nvPr>
        </p:nvGraphicFramePr>
        <p:xfrm>
          <a:off x="2053431" y="222852"/>
          <a:ext cx="8127999" cy="762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98696377"/>
                    </a:ext>
                  </a:extLst>
                </a:gridCol>
                <a:gridCol w="2709333">
                  <a:extLst>
                    <a:ext uri="{9D8B030D-6E8A-4147-A177-3AD203B41FA5}">
                      <a16:colId xmlns:a16="http://schemas.microsoft.com/office/drawing/2014/main" val="82454324"/>
                    </a:ext>
                  </a:extLst>
                </a:gridCol>
                <a:gridCol w="2709333">
                  <a:extLst>
                    <a:ext uri="{9D8B030D-6E8A-4147-A177-3AD203B41FA5}">
                      <a16:colId xmlns:a16="http://schemas.microsoft.com/office/drawing/2014/main" val="2569036744"/>
                    </a:ext>
                  </a:extLst>
                </a:gridCol>
              </a:tblGrid>
              <a:tr h="370840">
                <a:tc>
                  <a:txBody>
                    <a:bodyPr/>
                    <a:lstStyle/>
                    <a:p>
                      <a:endParaRPr lang="fr-FR" dirty="0"/>
                    </a:p>
                  </a:txBody>
                  <a:tcPr>
                    <a:noFill/>
                  </a:tcPr>
                </a:tc>
                <a:tc>
                  <a:txBody>
                    <a:bodyPr/>
                    <a:lstStyle/>
                    <a:p>
                      <a:pPr algn="ctr"/>
                      <a:r>
                        <a:rPr lang="fr-FR" sz="2000" b="1" kern="1200" dirty="0">
                          <a:solidFill>
                            <a:schemeClr val="tx1"/>
                          </a:solidFill>
                          <a:latin typeface="+mn-lt"/>
                          <a:ea typeface="+mn-ea"/>
                          <a:cs typeface="+mn-cs"/>
                        </a:rPr>
                        <a:t>Architecture cible</a:t>
                      </a:r>
                    </a:p>
                  </a:txBody>
                  <a:tcPr>
                    <a:lnB w="12700" cap="flat" cmpd="sng" algn="ctr">
                      <a:solidFill>
                        <a:schemeClr val="tx1"/>
                      </a:solidFill>
                      <a:prstDash val="solid"/>
                      <a:round/>
                      <a:headEnd type="none" w="med" len="med"/>
                      <a:tailEnd type="none" w="med" len="med"/>
                    </a:lnB>
                    <a:noFill/>
                  </a:tcPr>
                </a:tc>
                <a:tc>
                  <a:txBody>
                    <a:bodyPr/>
                    <a:lstStyle/>
                    <a:p>
                      <a:endParaRPr lang="fr-FR" sz="2000" b="1" kern="1200" dirty="0">
                        <a:solidFill>
                          <a:schemeClr val="tx1"/>
                        </a:solidFill>
                        <a:latin typeface="+mn-lt"/>
                        <a:ea typeface="+mn-ea"/>
                        <a:cs typeface="+mn-cs"/>
                      </a:endParaRPr>
                    </a:p>
                  </a:txBody>
                  <a:tcPr>
                    <a:noFill/>
                  </a:tcPr>
                </a:tc>
                <a:extLst>
                  <a:ext uri="{0D108BD9-81ED-4DB2-BD59-A6C34878D82A}">
                    <a16:rowId xmlns:a16="http://schemas.microsoft.com/office/drawing/2014/main" val="3177958878"/>
                  </a:ext>
                </a:extLst>
              </a:tr>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0" kern="1200" dirty="0">
                          <a:solidFill>
                            <a:srgbClr val="BD1C3A"/>
                          </a:solidFill>
                          <a:latin typeface="+mn-lt"/>
                          <a:ea typeface="+mn-ea"/>
                          <a:cs typeface="+mn-cs"/>
                        </a:rPr>
                        <a:t>Architecture cible (vue macro)</a:t>
                      </a:r>
                    </a:p>
                  </a:txBody>
                  <a:tcPr>
                    <a:noFill/>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1062071459"/>
                  </a:ext>
                </a:extLst>
              </a:tr>
            </a:tbl>
          </a:graphicData>
        </a:graphic>
      </p:graphicFrame>
      <p:sp>
        <p:nvSpPr>
          <p:cNvPr id="16" name="ZoneTexte 15">
            <a:extLst>
              <a:ext uri="{FF2B5EF4-FFF2-40B4-BE49-F238E27FC236}">
                <a16:creationId xmlns:a16="http://schemas.microsoft.com/office/drawing/2014/main" id="{7139587F-9687-7316-2558-22099F3ADB58}"/>
              </a:ext>
            </a:extLst>
          </p:cNvPr>
          <p:cNvSpPr txBox="1"/>
          <p:nvPr/>
        </p:nvSpPr>
        <p:spPr>
          <a:xfrm>
            <a:off x="971997" y="5048513"/>
            <a:ext cx="10452697" cy="1384995"/>
          </a:xfrm>
          <a:prstGeom prst="rect">
            <a:avLst/>
          </a:prstGeom>
          <a:noFill/>
        </p:spPr>
        <p:txBody>
          <a:bodyPr wrap="square" rtlCol="0">
            <a:spAutoFit/>
          </a:bodyPr>
          <a:lstStyle/>
          <a:p>
            <a:pPr marL="285750" indent="-285750">
              <a:buFont typeface="Arial" panose="020B0604020202020204" pitchFamily="34" charset="0"/>
              <a:buChar char="•"/>
            </a:pPr>
            <a:r>
              <a:rPr lang="fr-FR" sz="1200" dirty="0">
                <a:solidFill>
                  <a:schemeClr val="tx1">
                    <a:lumMod val="65000"/>
                    <a:lumOff val="35000"/>
                  </a:schemeClr>
                </a:solidFill>
              </a:rPr>
              <a:t>La </a:t>
            </a:r>
            <a:r>
              <a:rPr lang="fr-FR" sz="1200" dirty="0" err="1">
                <a:solidFill>
                  <a:schemeClr val="tx1">
                    <a:lumMod val="65000"/>
                    <a:lumOff val="35000"/>
                  </a:schemeClr>
                </a:solidFill>
              </a:rPr>
              <a:t>consumption_date</a:t>
            </a:r>
            <a:r>
              <a:rPr lang="fr-FR" sz="1200" dirty="0">
                <a:solidFill>
                  <a:schemeClr val="tx1">
                    <a:lumMod val="65000"/>
                    <a:lumOff val="35000"/>
                  </a:schemeClr>
                </a:solidFill>
              </a:rPr>
              <a:t> est mise à jour uniquement après un succès HTTP lors de l’appel à l’API.</a:t>
            </a:r>
          </a:p>
          <a:p>
            <a:pPr marL="285750" indent="-285750">
              <a:buFont typeface="Arial" panose="020B0604020202020204" pitchFamily="34" charset="0"/>
              <a:buChar char="•"/>
            </a:pPr>
            <a:r>
              <a:rPr lang="fr-FR" sz="1200" dirty="0">
                <a:solidFill>
                  <a:schemeClr val="tx1">
                    <a:lumMod val="65000"/>
                    <a:lumOff val="35000"/>
                  </a:schemeClr>
                </a:solidFill>
              </a:rPr>
              <a:t>Le consumer ne gère pas l’état côté système destinataire : toute latence ou échec ultérieur relève du système cible.</a:t>
            </a:r>
          </a:p>
          <a:p>
            <a:pPr marL="285750" indent="-285750">
              <a:buFont typeface="Arial" panose="020B0604020202020204" pitchFamily="34" charset="0"/>
              <a:buChar char="•"/>
            </a:pPr>
            <a:r>
              <a:rPr lang="fr-FR" sz="1200" dirty="0">
                <a:solidFill>
                  <a:schemeClr val="tx1">
                    <a:lumMod val="65000"/>
                    <a:lumOff val="35000"/>
                  </a:schemeClr>
                </a:solidFill>
              </a:rPr>
              <a:t>En cas d’erreur 4xx, rejouer l’appel n’a pas de sens si les données n’évoluent pas.</a:t>
            </a:r>
          </a:p>
          <a:p>
            <a:pPr marL="285750" indent="-285750">
              <a:buFont typeface="Arial" panose="020B0604020202020204" pitchFamily="34" charset="0"/>
              <a:buChar char="•"/>
            </a:pPr>
            <a:r>
              <a:rPr lang="fr-FR" sz="1200" dirty="0">
                <a:solidFill>
                  <a:schemeClr val="tx1">
                    <a:lumMod val="65000"/>
                    <a:lumOff val="35000"/>
                  </a:schemeClr>
                </a:solidFill>
              </a:rPr>
              <a:t>Une politique de </a:t>
            </a:r>
            <a:r>
              <a:rPr lang="fr-FR" sz="1200" dirty="0" err="1">
                <a:solidFill>
                  <a:schemeClr val="tx1">
                    <a:lumMod val="65000"/>
                    <a:lumOff val="35000"/>
                  </a:schemeClr>
                </a:solidFill>
              </a:rPr>
              <a:t>retry</a:t>
            </a:r>
            <a:r>
              <a:rPr lang="fr-FR" sz="1200" dirty="0">
                <a:solidFill>
                  <a:schemeClr val="tx1">
                    <a:lumMod val="65000"/>
                    <a:lumOff val="35000"/>
                  </a:schemeClr>
                </a:solidFill>
              </a:rPr>
              <a:t> est définie : X tentatives avant d’envoyer le message en DLQ (Dead Letter Queue).</a:t>
            </a:r>
          </a:p>
          <a:p>
            <a:pPr marL="285750" indent="-285750">
              <a:buFont typeface="Arial" panose="020B0604020202020204" pitchFamily="34" charset="0"/>
              <a:buChar char="•"/>
            </a:pPr>
            <a:r>
              <a:rPr lang="fr-FR" sz="1200" dirty="0">
                <a:solidFill>
                  <a:schemeClr val="tx1">
                    <a:lumMod val="65000"/>
                    <a:lumOff val="35000"/>
                  </a:schemeClr>
                </a:solidFill>
              </a:rPr>
              <a:t>La DLQ sert de zone de quarantaine pour les messages qui n’ont pas pu être traités correctement après plusieurs tentatives.</a:t>
            </a:r>
          </a:p>
          <a:p>
            <a:pPr marL="285750" indent="-285750">
              <a:buFont typeface="Arial" panose="020B0604020202020204" pitchFamily="34" charset="0"/>
              <a:buChar char="•"/>
            </a:pPr>
            <a:r>
              <a:rPr lang="fr-FR" sz="1200" dirty="0">
                <a:solidFill>
                  <a:schemeClr val="tx1">
                    <a:lumMod val="65000"/>
                    <a:lumOff val="35000"/>
                  </a:schemeClr>
                </a:solidFill>
              </a:rPr>
              <a:t>Une queue dédiée aux messages défectueux est prévue, avec création automatique d’un ticket incident dans Snow (incluant lien ou détail du message).</a:t>
            </a:r>
          </a:p>
          <a:p>
            <a:pPr marL="285750" indent="-285750">
              <a:buFont typeface="Arial" panose="020B0604020202020204" pitchFamily="34" charset="0"/>
              <a:buChar char="•"/>
            </a:pPr>
            <a:r>
              <a:rPr lang="fr-FR" sz="1200" dirty="0">
                <a:solidFill>
                  <a:schemeClr val="tx1">
                    <a:lumMod val="65000"/>
                    <a:lumOff val="35000"/>
                  </a:schemeClr>
                </a:solidFill>
              </a:rPr>
              <a:t>Les messages en DLQ restent en attente d’un statut “</a:t>
            </a:r>
            <a:r>
              <a:rPr lang="fr-FR" sz="1200" dirty="0" err="1">
                <a:solidFill>
                  <a:schemeClr val="tx1">
                    <a:lumMod val="65000"/>
                    <a:lumOff val="35000"/>
                  </a:schemeClr>
                </a:solidFill>
              </a:rPr>
              <a:t>ready</a:t>
            </a:r>
            <a:r>
              <a:rPr lang="fr-FR" sz="1200" dirty="0">
                <a:solidFill>
                  <a:schemeClr val="tx1">
                    <a:lumMod val="65000"/>
                    <a:lumOff val="35000"/>
                  </a:schemeClr>
                </a:solidFill>
              </a:rPr>
              <a:t> to replay” avant réinjection.</a:t>
            </a:r>
          </a:p>
        </p:txBody>
      </p:sp>
      <p:pic>
        <p:nvPicPr>
          <p:cNvPr id="21" name="Espace réservé du contenu 20">
            <a:extLst>
              <a:ext uri="{FF2B5EF4-FFF2-40B4-BE49-F238E27FC236}">
                <a16:creationId xmlns:a16="http://schemas.microsoft.com/office/drawing/2014/main" id="{4B267119-28A8-799D-A437-4C9E4F79717F}"/>
              </a:ext>
            </a:extLst>
          </p:cNvPr>
          <p:cNvPicPr>
            <a:picLocks noGrp="1" noChangeAspect="1"/>
          </p:cNvPicPr>
          <p:nvPr>
            <p:ph sz="quarter" idx="17"/>
          </p:nvPr>
        </p:nvPicPr>
        <p:blipFill>
          <a:blip r:embed="rId3"/>
          <a:stretch>
            <a:fillRect/>
          </a:stretch>
        </p:blipFill>
        <p:spPr>
          <a:xfrm>
            <a:off x="1442556" y="1520456"/>
            <a:ext cx="9339744" cy="3069011"/>
          </a:xfrm>
          <a:prstGeom prst="rect">
            <a:avLst/>
          </a:prstGeom>
        </p:spPr>
      </p:pic>
    </p:spTree>
    <p:extLst>
      <p:ext uri="{BB962C8B-B14F-4D97-AF65-F5344CB8AC3E}">
        <p14:creationId xmlns:p14="http://schemas.microsoft.com/office/powerpoint/2010/main" val="697380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985C6F7A-24EA-65F8-366A-9BBEAAFC888C}"/>
              </a:ext>
            </a:extLst>
          </p:cNvPr>
          <p:cNvSpPr>
            <a:spLocks noGrp="1"/>
          </p:cNvSpPr>
          <p:nvPr>
            <p:ph type="sldNum" sz="quarter" idx="4"/>
          </p:nvPr>
        </p:nvSpPr>
        <p:spPr/>
        <p:txBody>
          <a:bodyPr/>
          <a:lstStyle/>
          <a:p>
            <a:fld id="{525A3C56-E491-49B2-93F3-63532DF516BC}" type="slidenum">
              <a:rPr lang="en-CA" smtClean="0"/>
              <a:pPr/>
              <a:t>5</a:t>
            </a:fld>
            <a:endParaRPr lang="en-CA" dirty="0"/>
          </a:p>
        </p:txBody>
      </p:sp>
      <p:graphicFrame>
        <p:nvGraphicFramePr>
          <p:cNvPr id="5" name="Tableau 4">
            <a:extLst>
              <a:ext uri="{FF2B5EF4-FFF2-40B4-BE49-F238E27FC236}">
                <a16:creationId xmlns:a16="http://schemas.microsoft.com/office/drawing/2014/main" id="{E3BC4284-4F0C-E9BB-51A3-13C2C4E0AC0E}"/>
              </a:ext>
            </a:extLst>
          </p:cNvPr>
          <p:cNvGraphicFramePr>
            <a:graphicFrameLocks noGrp="1"/>
          </p:cNvGraphicFramePr>
          <p:nvPr>
            <p:extLst>
              <p:ext uri="{D42A27DB-BD31-4B8C-83A1-F6EECF244321}">
                <p14:modId xmlns:p14="http://schemas.microsoft.com/office/powerpoint/2010/main" val="2273318569"/>
              </p:ext>
            </p:extLst>
          </p:nvPr>
        </p:nvGraphicFramePr>
        <p:xfrm>
          <a:off x="2053431" y="222852"/>
          <a:ext cx="8127999" cy="762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98696377"/>
                    </a:ext>
                  </a:extLst>
                </a:gridCol>
                <a:gridCol w="2709333">
                  <a:extLst>
                    <a:ext uri="{9D8B030D-6E8A-4147-A177-3AD203B41FA5}">
                      <a16:colId xmlns:a16="http://schemas.microsoft.com/office/drawing/2014/main" val="82454324"/>
                    </a:ext>
                  </a:extLst>
                </a:gridCol>
                <a:gridCol w="2709333">
                  <a:extLst>
                    <a:ext uri="{9D8B030D-6E8A-4147-A177-3AD203B41FA5}">
                      <a16:colId xmlns:a16="http://schemas.microsoft.com/office/drawing/2014/main" val="2569036744"/>
                    </a:ext>
                  </a:extLst>
                </a:gridCol>
              </a:tblGrid>
              <a:tr h="370840">
                <a:tc>
                  <a:txBody>
                    <a:bodyPr/>
                    <a:lstStyle/>
                    <a:p>
                      <a:endParaRPr lang="fr-FR" dirty="0"/>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000" b="1" kern="1200" dirty="0">
                          <a:solidFill>
                            <a:schemeClr val="tx1"/>
                          </a:solidFill>
                          <a:latin typeface="+mn-lt"/>
                          <a:ea typeface="+mn-ea"/>
                          <a:cs typeface="+mn-cs"/>
                        </a:rPr>
                        <a:t>Architecture cible</a:t>
                      </a:r>
                    </a:p>
                  </a:txBody>
                  <a:tcPr>
                    <a:lnB w="12700" cap="flat" cmpd="sng" algn="ctr">
                      <a:solidFill>
                        <a:schemeClr val="tx1"/>
                      </a:solidFill>
                      <a:prstDash val="solid"/>
                      <a:round/>
                      <a:headEnd type="none" w="med" len="med"/>
                      <a:tailEnd type="none" w="med" len="med"/>
                    </a:lnB>
                    <a:noFill/>
                  </a:tcPr>
                </a:tc>
                <a:tc>
                  <a:txBody>
                    <a:bodyPr/>
                    <a:lstStyle/>
                    <a:p>
                      <a:endParaRPr lang="fr-FR" sz="2000" b="1" kern="1200" dirty="0">
                        <a:solidFill>
                          <a:schemeClr val="tx1"/>
                        </a:solidFill>
                        <a:latin typeface="+mn-lt"/>
                        <a:ea typeface="+mn-ea"/>
                        <a:cs typeface="+mn-cs"/>
                      </a:endParaRPr>
                    </a:p>
                  </a:txBody>
                  <a:tcPr>
                    <a:noFill/>
                  </a:tcPr>
                </a:tc>
                <a:extLst>
                  <a:ext uri="{0D108BD9-81ED-4DB2-BD59-A6C34878D82A}">
                    <a16:rowId xmlns:a16="http://schemas.microsoft.com/office/drawing/2014/main" val="3177958878"/>
                  </a:ext>
                </a:extLst>
              </a:tr>
              <a:tr h="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0" kern="1200" dirty="0">
                          <a:solidFill>
                            <a:srgbClr val="BD1C3A"/>
                          </a:solidFill>
                          <a:latin typeface="+mn-lt"/>
                          <a:ea typeface="+mn-ea"/>
                          <a:cs typeface="+mn-cs"/>
                        </a:rPr>
                        <a:t>Bénéfices de l’architecture cible</a:t>
                      </a:r>
                    </a:p>
                  </a:txBody>
                  <a:tcPr>
                    <a:noFill/>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1062071459"/>
                  </a:ext>
                </a:extLst>
              </a:tr>
            </a:tbl>
          </a:graphicData>
        </a:graphic>
      </p:graphicFrame>
      <p:sp>
        <p:nvSpPr>
          <p:cNvPr id="6" name="Rectangle 1">
            <a:extLst>
              <a:ext uri="{FF2B5EF4-FFF2-40B4-BE49-F238E27FC236}">
                <a16:creationId xmlns:a16="http://schemas.microsoft.com/office/drawing/2014/main" id="{E9E3553E-F24D-F7F5-6A01-A0C2EF61ACBF}"/>
              </a:ext>
            </a:extLst>
          </p:cNvPr>
          <p:cNvSpPr>
            <a:spLocks noGrp="1" noChangeArrowheads="1"/>
          </p:cNvSpPr>
          <p:nvPr>
            <p:ph sz="quarter" idx="17"/>
          </p:nvPr>
        </p:nvSpPr>
        <p:spPr bwMode="auto">
          <a:xfrm>
            <a:off x="1395190" y="1337276"/>
            <a:ext cx="7507270"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Réduction significative des coûts d’infrastructure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Scalabilité maîtrisée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Découplage fort des responsabilités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Meilleure observabilité du traitement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800" b="0" i="0" u="none" strike="noStrike" cap="none" normalizeH="0" baseline="0" dirty="0">
                <a:ln>
                  <a:noFill/>
                </a:ln>
                <a:solidFill>
                  <a:schemeClr val="tx1"/>
                </a:solidFill>
                <a:effectLst/>
                <a:latin typeface="+mj-lt"/>
              </a:rPr>
              <a:t>Alignement avec les patterns data modernes (event-driven)</a:t>
            </a:r>
          </a:p>
        </p:txBody>
      </p:sp>
      <p:graphicFrame>
        <p:nvGraphicFramePr>
          <p:cNvPr id="7" name="Tableau 6">
            <a:extLst>
              <a:ext uri="{FF2B5EF4-FFF2-40B4-BE49-F238E27FC236}">
                <a16:creationId xmlns:a16="http://schemas.microsoft.com/office/drawing/2014/main" id="{3D6E7D14-829A-185B-DCC0-7351E07F3B0C}"/>
              </a:ext>
            </a:extLst>
          </p:cNvPr>
          <p:cNvGraphicFramePr>
            <a:graphicFrameLocks noGrp="1"/>
          </p:cNvGraphicFramePr>
          <p:nvPr>
            <p:extLst>
              <p:ext uri="{D42A27DB-BD31-4B8C-83A1-F6EECF244321}">
                <p14:modId xmlns:p14="http://schemas.microsoft.com/office/powerpoint/2010/main" val="761431347"/>
              </p:ext>
            </p:extLst>
          </p:nvPr>
        </p:nvGraphicFramePr>
        <p:xfrm>
          <a:off x="1190445" y="5210355"/>
          <a:ext cx="10234249" cy="1053953"/>
        </p:xfrm>
        <a:graphic>
          <a:graphicData uri="http://schemas.openxmlformats.org/drawingml/2006/table">
            <a:tbl>
              <a:tblPr firstRow="1" bandRow="1">
                <a:tableStyleId>{5940675A-B579-460E-94D1-54222C63F5DA}</a:tableStyleId>
              </a:tblPr>
              <a:tblGrid>
                <a:gridCol w="10234249">
                  <a:extLst>
                    <a:ext uri="{9D8B030D-6E8A-4147-A177-3AD203B41FA5}">
                      <a16:colId xmlns:a16="http://schemas.microsoft.com/office/drawing/2014/main" val="466055818"/>
                    </a:ext>
                  </a:extLst>
                </a:gridCol>
              </a:tblGrid>
              <a:tr h="1053953">
                <a:tc>
                  <a:txBody>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La duplication d’infrastructure n’est pas une stratégie d’architecture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Le broker permet de : absorber la charge, maîtriser le débit, réduire les coûts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fr-FR" dirty="0"/>
                        <a:t>Recommandation : valider l’architecture cible, lancer un POC sur le consumer et la régulation API</a:t>
                      </a:r>
                    </a:p>
                  </a:txBody>
                  <a:tcPr/>
                </a:tc>
                <a:extLst>
                  <a:ext uri="{0D108BD9-81ED-4DB2-BD59-A6C34878D82A}">
                    <a16:rowId xmlns:a16="http://schemas.microsoft.com/office/drawing/2014/main" val="3395954679"/>
                  </a:ext>
                </a:extLst>
              </a:tr>
            </a:tbl>
          </a:graphicData>
        </a:graphic>
      </p:graphicFrame>
    </p:spTree>
    <p:extLst>
      <p:ext uri="{BB962C8B-B14F-4D97-AF65-F5344CB8AC3E}">
        <p14:creationId xmlns:p14="http://schemas.microsoft.com/office/powerpoint/2010/main" val="84151024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540</TotalTime>
  <Words>1127</Words>
  <Application>Microsoft Office PowerPoint</Application>
  <PresentationFormat>Grand écran</PresentationFormat>
  <Paragraphs>111</Paragraphs>
  <Slides>5</Slides>
  <Notes>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vt:i4>
      </vt:variant>
    </vt:vector>
  </HeadingPairs>
  <TitlesOfParts>
    <vt:vector size="13" baseType="lpstr">
      <vt:lpstr>Aptos</vt:lpstr>
      <vt:lpstr>Aptos Display</vt:lpstr>
      <vt:lpstr>Arial</vt:lpstr>
      <vt:lpstr>Calibri</vt:lpstr>
      <vt:lpstr>Courier New</vt:lpstr>
      <vt:lpstr>Verdana</vt:lpstr>
      <vt:lpstr>Wingdings</vt:lpstr>
      <vt:lpstr>Thème Office</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Youcef SABOUN</dc:creator>
  <cp:lastModifiedBy>Youcef SABOUN</cp:lastModifiedBy>
  <cp:revision>5</cp:revision>
  <dcterms:created xsi:type="dcterms:W3CDTF">2026-01-11T13:48:40Z</dcterms:created>
  <dcterms:modified xsi:type="dcterms:W3CDTF">2026-01-11T22:49:10Z</dcterms:modified>
</cp:coreProperties>
</file>